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iler_project_poster_16x9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DA440"/>
                </a:solidFill>
                <a:latin typeface="Noto Sans CJK SC"/>
              </a:rPr>
              <a:t>01 · AI 原生游戏范式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EFDE"/>
                </a:solidFill>
                <a:latin typeface="Noto Sans CJK SC"/>
              </a:rPr>
              <a:t>Vibe Coding 之后，是 Vibe Playing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07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1B7A9"/>
                </a:solidFill>
                <a:latin typeface="Noto Sans CJK SC"/>
              </a:rPr>
              <a:t>把“自然语言 → 可运行软件”的范式，迁移为“玩家意图 → 可验证玩法 → 当前 Session”。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65960"/>
            <a:ext cx="2971800" cy="32004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30552"/>
            <a:ext cx="2971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4B1A3"/>
                </a:solidFill>
                <a:latin typeface="Noto Sans CJK SC"/>
              </a:rPr>
              <a:t>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59736"/>
            <a:ext cx="2971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EFDE"/>
                </a:solidFill>
                <a:latin typeface="Noto Sans CJK SC"/>
              </a:rPr>
              <a:t>意图变成软件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2971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3EFDE"/>
                </a:solidFill>
                <a:latin typeface="Noto Sans CJK SC"/>
              </a:rPr>
              <a:t>自然语言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29718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1B7A9"/>
                </a:solidFill>
                <a:latin typeface="Noto Sans CJK SC"/>
              </a:rPr>
              <a:t>→ 结构化产物 → 可运行应用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29718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1B7A9"/>
                </a:solidFill>
                <a:latin typeface="Noto Sans CJK SC"/>
              </a:rPr>
              <a:t>人描述目标，AI 与工程系统完成实现。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0288" y="1965960"/>
            <a:ext cx="2971800" cy="32004"/>
          </a:xfrm>
          <a:prstGeom prst="rect">
            <a:avLst/>
          </a:prstGeom>
          <a:solidFill>
            <a:srgbClr val="DDA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30552"/>
            <a:ext cx="2971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DA440"/>
                </a:solidFill>
                <a:latin typeface="Noto Sans CJK SC"/>
              </a:rPr>
              <a:t>PARADIGM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59736"/>
            <a:ext cx="2971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EFDE"/>
                </a:solidFill>
                <a:latin typeface="Noto Sans CJK SC"/>
              </a:rPr>
              <a:t>把生成接入运行时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880360"/>
            <a:ext cx="2971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3EFDE"/>
                </a:solidFill>
                <a:latin typeface="Noto Sans CJK SC"/>
              </a:rPr>
              <a:t>理解只是起点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310128"/>
            <a:ext cx="29718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1B7A9"/>
                </a:solidFill>
                <a:latin typeface="Noto Sans CJK SC"/>
              </a:rPr>
              <a:t>→ 校验 → 模拟 → 晋升激活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977639"/>
            <a:ext cx="29718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1B7A9"/>
                </a:solidFill>
                <a:latin typeface="Noto Sans CJK SC"/>
              </a:rPr>
              <a:t>AI 输出必须穿过游戏规则与质量门。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965960"/>
            <a:ext cx="2971800" cy="32004"/>
          </a:xfrm>
          <a:prstGeom prst="rect">
            <a:avLst/>
          </a:prstGeom>
          <a:solidFill>
            <a:srgbClr val="CC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30552"/>
            <a:ext cx="2971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5F4F"/>
                </a:solidFill>
                <a:latin typeface="Noto Sans CJK SC"/>
              </a:rPr>
              <a:t>VIBE PLAYING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459736"/>
            <a:ext cx="2971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EFDE"/>
                </a:solidFill>
                <a:latin typeface="Noto Sans CJK SC"/>
              </a:rPr>
              <a:t>意图变成玩法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80360"/>
            <a:ext cx="2971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3EFDE"/>
                </a:solidFill>
                <a:latin typeface="Noto Sans CJK SC"/>
              </a:rPr>
              <a:t>自然语言意图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310128"/>
            <a:ext cx="29718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1B7A9"/>
                </a:solidFill>
                <a:latin typeface="Noto Sans CJK SC"/>
              </a:rPr>
              <a:t>→ Runtime asset → 当前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977639"/>
            <a:ext cx="29718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1B7A9"/>
                </a:solidFill>
                <a:latin typeface="Noto Sans CJK SC"/>
              </a:rPr>
              <a:t>玩家提出想法，并在战场上观察结果。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983480"/>
            <a:ext cx="10789920" cy="941832"/>
          </a:xfrm>
          <a:prstGeom prst="rect">
            <a:avLst/>
          </a:prstGeom>
          <a:solidFill>
            <a:srgbClr val="0D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266944"/>
            <a:ext cx="1325880" cy="329184"/>
          </a:xfrm>
          <a:prstGeom prst="roundRect">
            <a:avLst/>
          </a:prstGeom>
          <a:solidFill>
            <a:srgbClr val="14312C"/>
          </a:solidFill>
          <a:ln>
            <a:solidFill>
              <a:srgbClr val="44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35524"/>
            <a:ext cx="13258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4B1A3"/>
                </a:solidFill>
                <a:latin typeface="Noto Sans CJK SC"/>
              </a:rPr>
              <a:t>本作验证命题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5230368"/>
            <a:ext cx="86410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3EFDE"/>
                </a:solidFill>
                <a:latin typeface="Noto Sans CJK SC"/>
              </a:rPr>
              <a:t>AI 原生游戏的关键，不是生成更多文案，而是改变玩家与系统的交互合同。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1B7A9"/>
                </a:solidFill>
                <a:latin typeface="Noto Sans CJK SC"/>
              </a:rPr>
              <a:t>Compiler · Tencent Cloud Hackathon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DDA440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DA440"/>
                </a:solidFill>
                <a:latin typeface="Noto Sans CJK SC"/>
              </a:rPr>
              <a:t>02 · 玩家体验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EFDE"/>
                </a:solidFill>
                <a:latin typeface="Noto Sans CJK SC"/>
              </a:rPr>
              <a:t>玩家眼中的一条完整链路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07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1B7A9"/>
                </a:solidFill>
                <a:latin typeface="Noto Sans CJK SC"/>
              </a:rPr>
              <a:t>技术管线留在后台；前台只有世界、工坊，以及新能力进入战场的结果。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11480"/>
            <a:ext cx="1143000" cy="329184"/>
          </a:xfrm>
          <a:prstGeom prst="roundRect">
            <a:avLst/>
          </a:prstGeom>
          <a:solidFill>
            <a:srgbClr val="14312C"/>
          </a:solidFill>
          <a:ln>
            <a:solidFill>
              <a:srgbClr val="44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0" y="480060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4B1A3"/>
                </a:solidFill>
                <a:latin typeface="Noto Sans CJK SC"/>
              </a:rPr>
              <a:t>已实现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19" y="1879092"/>
            <a:ext cx="3447288" cy="3447288"/>
          </a:xfrm>
          <a:prstGeom prst="rect">
            <a:avLst/>
          </a:prstGeom>
          <a:solidFill>
            <a:srgbClr val="DDA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in_map.png"/>
          <p:cNvPicPr>
            <a:picLocks noChangeAspect="1"/>
          </p:cNvPicPr>
          <p:nvPr/>
        </p:nvPicPr>
        <p:blipFill>
          <a:blip r:embed="rId2"/>
          <a:srcRect l="18750" r="18750"/>
          <a:stretch>
            <a:fillRect/>
          </a:stretch>
        </p:blipFill>
        <p:spPr>
          <a:xfrm>
            <a:off x="640080" y="1901952"/>
            <a:ext cx="3401568" cy="34015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75403" y="1879092"/>
            <a:ext cx="3447288" cy="3447288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_workshop.png"/>
          <p:cNvPicPr>
            <a:picLocks noChangeAspect="1"/>
          </p:cNvPicPr>
          <p:nvPr/>
        </p:nvPicPr>
        <p:blipFill>
          <a:blip r:embed="rId3"/>
          <a:srcRect l="18750" r="18750"/>
          <a:stretch>
            <a:fillRect/>
          </a:stretch>
        </p:blipFill>
        <p:spPr>
          <a:xfrm>
            <a:off x="4398264" y="1901952"/>
            <a:ext cx="3401568" cy="34015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33588" y="1879092"/>
            <a:ext cx="3447288" cy="3447288"/>
          </a:xfrm>
          <a:prstGeom prst="rect">
            <a:avLst/>
          </a:prstGeom>
          <a:solidFill>
            <a:srgbClr val="CC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in_battle.png"/>
          <p:cNvPicPr>
            <a:picLocks noChangeAspect="1"/>
          </p:cNvPicPr>
          <p:nvPr/>
        </p:nvPicPr>
        <p:blipFill>
          <a:blip r:embed="rId4"/>
          <a:srcRect l="18750" r="18750"/>
          <a:stretch>
            <a:fillRect/>
          </a:stretch>
        </p:blipFill>
        <p:spPr>
          <a:xfrm>
            <a:off x="8156448" y="1901952"/>
            <a:ext cx="3401568" cy="3401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69080" y="3319272"/>
            <a:ext cx="292608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3319272"/>
            <a:ext cx="292608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449824"/>
            <a:ext cx="31821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DA440"/>
                </a:solidFill>
                <a:latin typeface="Noto Sans CJK SC"/>
              </a:rPr>
              <a:t>01 进入世界与战略地图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5449824"/>
            <a:ext cx="31821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4B1A3"/>
                </a:solidFill>
                <a:latin typeface="Noto Sans CJK SC"/>
              </a:rPr>
              <a:t>02 用自然语言提出意图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5449824"/>
            <a:ext cx="31821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C5F4F"/>
                </a:solidFill>
                <a:latin typeface="Noto Sans CJK SC"/>
              </a:rPr>
              <a:t>03 激活样品并观察行为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980176"/>
            <a:ext cx="8275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3EFDE"/>
                </a:solidFill>
                <a:latin typeface="Noto Sans CJK SC"/>
              </a:rPr>
              <a:t>三个编译世界均可进入这条完整页面链路。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1B7A9"/>
                </a:solidFill>
                <a:latin typeface="Noto Sans CJK SC"/>
              </a:rPr>
              <a:t>Compiler · Tencent Cloud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DDA440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DA440"/>
                </a:solidFill>
                <a:latin typeface="Noto Sans CJK SC"/>
              </a:rPr>
              <a:t>03 · AI 编译器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EFDE"/>
                </a:solidFill>
                <a:latin typeface="Noto Sans CJK SC"/>
              </a:rPr>
              <a:t>从一句话，到一个可激活的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07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1B7A9"/>
                </a:solidFill>
                <a:latin typeface="Noto Sans CJK SC"/>
              </a:rPr>
              <a:t>自然语言输入可以自由；进入运行时之前，每一步都必须结构化、可验证、可审计。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11480"/>
            <a:ext cx="1143000" cy="329184"/>
          </a:xfrm>
          <a:prstGeom prst="roundRect">
            <a:avLst/>
          </a:prstGeom>
          <a:solidFill>
            <a:srgbClr val="14312C"/>
          </a:solidFill>
          <a:ln>
            <a:solidFill>
              <a:srgbClr val="44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0" y="480060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4B1A3"/>
                </a:solidFill>
                <a:latin typeface="Noto Sans CJK SC"/>
              </a:rPr>
              <a:t>已实现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84831"/>
            <a:ext cx="1609344" cy="2148840"/>
          </a:xfrm>
          <a:prstGeom prst="rect">
            <a:avLst/>
          </a:prstGeom>
          <a:solidFill>
            <a:srgbClr val="121914"/>
          </a:solidFill>
          <a:ln>
            <a:solidFill>
              <a:srgbClr val="44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84831"/>
            <a:ext cx="1609344" cy="73152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350008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4B1A3"/>
                </a:solidFill>
                <a:latin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06624"/>
            <a:ext cx="1280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3EFDE"/>
                </a:solidFill>
                <a:latin typeface="Noto Sans CJK SC"/>
              </a:rPr>
              <a:t>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46120"/>
            <a:ext cx="128016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玩家自然语言</a:t>
            </a:r>
            <a:br/>
            <a:r>
              <a:rPr sz="1000" b="0">
                <a:solidFill>
                  <a:srgbClr val="B1B7A9"/>
                </a:solidFill>
                <a:latin typeface="Noto Sans CJK SC"/>
              </a:rPr>
              <a:t>意图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1992" y="2953512"/>
            <a:ext cx="25603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6312" y="2084831"/>
            <a:ext cx="1609344" cy="2148840"/>
          </a:xfrm>
          <a:prstGeom prst="rect">
            <a:avLst/>
          </a:prstGeom>
          <a:solidFill>
            <a:srgbClr val="121914"/>
          </a:solidFill>
          <a:ln>
            <a:solidFill>
              <a:srgbClr val="DDA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96312" y="2084831"/>
            <a:ext cx="1609344" cy="73152"/>
          </a:xfrm>
          <a:prstGeom prst="rect">
            <a:avLst/>
          </a:prstGeom>
          <a:solidFill>
            <a:srgbClr val="DDA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0904" y="2350008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DA440"/>
                </a:solidFill>
                <a:latin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4" y="2706624"/>
            <a:ext cx="1280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3EFDE"/>
                </a:solidFill>
                <a:latin typeface="Noto Sans CJK SC"/>
              </a:rPr>
              <a:t>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4" y="3246120"/>
            <a:ext cx="128016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Provider 输出</a:t>
            </a:r>
            <a:br/>
            <a:r>
              <a:rPr sz="1000" b="0">
                <a:solidFill>
                  <a:srgbClr val="B1B7A9"/>
                </a:solidFill>
                <a:latin typeface="Noto Sans CJK SC"/>
              </a:rPr>
              <a:t>结构化候选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4" y="2953512"/>
            <a:ext cx="25603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2084831"/>
            <a:ext cx="1609344" cy="2148840"/>
          </a:xfrm>
          <a:prstGeom prst="rect">
            <a:avLst/>
          </a:prstGeom>
          <a:solidFill>
            <a:srgbClr val="121914"/>
          </a:solidFill>
          <a:ln>
            <a:solidFill>
              <a:srgbClr val="CC5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98264" y="2084831"/>
            <a:ext cx="1609344" cy="73152"/>
          </a:xfrm>
          <a:prstGeom prst="rect">
            <a:avLst/>
          </a:prstGeom>
          <a:solidFill>
            <a:srgbClr val="CC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2350008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5F4F"/>
                </a:solidFill>
                <a:latin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2706624"/>
            <a:ext cx="1280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3EFDE"/>
                </a:solidFill>
                <a:latin typeface="Noto Sans CJK SC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6" y="3246120"/>
            <a:ext cx="128016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Schema + 语义</a:t>
            </a:r>
            <a:br/>
            <a:r>
              <a:rPr sz="1000" b="0">
                <a:solidFill>
                  <a:srgbClr val="B1B7A9"/>
                </a:solidFill>
                <a:latin typeface="Noto Sans CJK SC"/>
              </a:rPr>
              <a:t>约束校验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5896" y="2953512"/>
            <a:ext cx="25603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216" y="2084831"/>
            <a:ext cx="1609344" cy="2148840"/>
          </a:xfrm>
          <a:prstGeom prst="rect">
            <a:avLst/>
          </a:prstGeom>
          <a:solidFill>
            <a:srgbClr val="121914"/>
          </a:solidFill>
          <a:ln>
            <a:solidFill>
              <a:srgbClr val="44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0216" y="2084831"/>
            <a:ext cx="1609344" cy="73152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2350008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4B1A3"/>
                </a:solidFill>
                <a:latin typeface="Noto Sans CJK S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2706624"/>
            <a:ext cx="1280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3EFDE"/>
                </a:solidFill>
                <a:latin typeface="Noto Sans CJK SC"/>
              </a:rPr>
              <a:t>Simulate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3246120"/>
            <a:ext cx="128016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确定性模拟</a:t>
            </a:r>
            <a:br/>
            <a:r>
              <a:rPr sz="1000" b="0">
                <a:solidFill>
                  <a:srgbClr val="B1B7A9"/>
                </a:solidFill>
                <a:latin typeface="Noto Sans CJK SC"/>
              </a:rPr>
              <a:t>与预算检查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7848" y="2953512"/>
            <a:ext cx="25603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02168" y="2084831"/>
            <a:ext cx="1609344" cy="2148840"/>
          </a:xfrm>
          <a:prstGeom prst="rect">
            <a:avLst/>
          </a:prstGeom>
          <a:solidFill>
            <a:srgbClr val="121914"/>
          </a:solidFill>
          <a:ln>
            <a:solidFill>
              <a:srgbClr val="DDA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02168" y="2084831"/>
            <a:ext cx="1609344" cy="73152"/>
          </a:xfrm>
          <a:prstGeom prst="rect">
            <a:avLst/>
          </a:prstGeom>
          <a:solidFill>
            <a:srgbClr val="DDA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350008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DA440"/>
                </a:solidFill>
                <a:latin typeface="Noto Sans CJK SC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706624"/>
            <a:ext cx="1280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3EFDE"/>
                </a:solidFill>
                <a:latin typeface="Noto Sans CJK SC"/>
              </a:rPr>
              <a:t>Promote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246120"/>
            <a:ext cx="128016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晋升报告</a:t>
            </a:r>
            <a:br/>
            <a:r>
              <a:rPr sz="1000" b="0">
                <a:solidFill>
                  <a:srgbClr val="B1B7A9"/>
                </a:solidFill>
                <a:latin typeface="Noto Sans CJK SC"/>
              </a:rPr>
              <a:t>决定可否发布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2953512"/>
            <a:ext cx="25603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2084831"/>
            <a:ext cx="1609344" cy="2148840"/>
          </a:xfrm>
          <a:prstGeom prst="rect">
            <a:avLst/>
          </a:prstGeom>
          <a:solidFill>
            <a:srgbClr val="121914"/>
          </a:solidFill>
          <a:ln>
            <a:solidFill>
              <a:srgbClr val="CC5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04120" y="2084831"/>
            <a:ext cx="1609344" cy="73152"/>
          </a:xfrm>
          <a:prstGeom prst="rect">
            <a:avLst/>
          </a:prstGeom>
          <a:solidFill>
            <a:srgbClr val="CC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8712" y="2350008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5F4F"/>
                </a:solidFill>
                <a:latin typeface="Noto Sans CJK SC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2" y="2706624"/>
            <a:ext cx="1280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3EFDE"/>
                </a:solidFill>
                <a:latin typeface="Noto Sans CJK SC"/>
              </a:rPr>
              <a:t>Activate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68712" y="3246120"/>
            <a:ext cx="128016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Runtime asset</a:t>
            </a:r>
            <a:br/>
            <a:r>
              <a:rPr sz="1000" b="0">
                <a:solidFill>
                  <a:srgbClr val="B1B7A9"/>
                </a:solidFill>
                <a:latin typeface="Noto Sans CJK SC"/>
              </a:rPr>
              <a:t>进入 Session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681728"/>
            <a:ext cx="5212080" cy="32004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882896"/>
            <a:ext cx="1188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4B1A3"/>
                </a:solidFill>
                <a:latin typeface="Noto Sans CJK SC"/>
              </a:rPr>
              <a:t>模型边界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321808"/>
            <a:ext cx="52120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3EFDE"/>
                </a:solidFill>
                <a:latin typeface="Noto Sans CJK SC"/>
              </a:rPr>
              <a:t>Provider 只提交候选，不直接改写世界状态。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681728"/>
            <a:ext cx="5257800" cy="32004"/>
          </a:xfrm>
          <a:prstGeom prst="rect">
            <a:avLst/>
          </a:prstGeom>
          <a:solidFill>
            <a:srgbClr val="DDA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2896"/>
            <a:ext cx="1188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DA440"/>
                </a:solidFill>
                <a:latin typeface="Noto Sans CJK SC"/>
              </a:rPr>
              <a:t>发布证据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321808"/>
            <a:ext cx="5257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3EFDE"/>
                </a:solidFill>
                <a:latin typeface="Noto Sans CJK SC"/>
              </a:rPr>
              <a:t>PromotionReport + ActivationReceipt 记录晋升与激活。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1B7A9"/>
                </a:solidFill>
                <a:latin typeface="Noto Sans CJK SC"/>
              </a:rPr>
              <a:t>Compiler · Tencent Cloud Hackathon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DDA440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DA440"/>
                </a:solidFill>
                <a:latin typeface="Noto Sans CJK SC"/>
              </a:rPr>
              <a:t>04 · 真实运行闭环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EFDE"/>
                </a:solidFill>
                <a:latin typeface="Noto Sans CJK SC"/>
              </a:rPr>
              <a:t>不是生成一段描述，而是改写一次可观察的战斗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07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1B7A9"/>
                </a:solidFill>
                <a:latin typeface="Noto Sans CJK SC"/>
              </a:rPr>
              <a:t>塔、陷阱与支援道具都完成了从候选到战斗行为的闭环。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11480"/>
            <a:ext cx="1143000" cy="329184"/>
          </a:xfrm>
          <a:prstGeom prst="roundRect">
            <a:avLst/>
          </a:prstGeom>
          <a:solidFill>
            <a:srgbClr val="14312C"/>
          </a:solidFill>
          <a:ln>
            <a:solidFill>
              <a:srgbClr val="44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0" y="480060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4B1A3"/>
                </a:solidFill>
                <a:latin typeface="Noto Sans CJK SC"/>
              </a:rPr>
              <a:t>已实现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75104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DA440"/>
                </a:solidFill>
                <a:latin typeface="Noto Sans CJK SC"/>
              </a:rPr>
              <a:t>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975104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DA440"/>
                </a:solidFill>
                <a:latin typeface="Noto Sans CJK SC"/>
              </a:rPr>
              <a:t>运行时行为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975104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DA440"/>
                </a:solidFill>
                <a:latin typeface="Noto Sans CJK SC"/>
              </a:rPr>
              <a:t>可验证证据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59152"/>
            <a:ext cx="6336792" cy="786384"/>
          </a:xfrm>
          <a:prstGeom prst="rect">
            <a:avLst/>
          </a:prstGeom>
          <a:solidFill>
            <a:srgbClr val="12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359152"/>
            <a:ext cx="64008" cy="786384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587752"/>
            <a:ext cx="1051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4B1A3"/>
                </a:solidFill>
                <a:latin typeface="Noto Sans CJK SC"/>
              </a:rPr>
              <a:t>防御塔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587752"/>
            <a:ext cx="25146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EFDE"/>
                </a:solidFill>
                <a:latin typeface="Noto Sans CJK SC"/>
              </a:rPr>
              <a:t>部署 → 索敌 → 伤害 / 连锁 → 结算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523744"/>
            <a:ext cx="1874519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费用、射程、目标数进入行为 ABI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383280"/>
            <a:ext cx="6336792" cy="786384"/>
          </a:xfrm>
          <a:prstGeom prst="rect">
            <a:avLst/>
          </a:prstGeom>
          <a:solidFill>
            <a:srgbClr val="0D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383280"/>
            <a:ext cx="64008" cy="786384"/>
          </a:xfrm>
          <a:prstGeom prst="rect">
            <a:avLst/>
          </a:prstGeom>
          <a:solidFill>
            <a:srgbClr val="DDA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611880"/>
            <a:ext cx="1051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DA440"/>
                </a:solidFill>
                <a:latin typeface="Noto Sans CJK SC"/>
              </a:rPr>
              <a:t>陷阱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611880"/>
            <a:ext cx="25146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EFDE"/>
                </a:solidFill>
                <a:latin typeface="Noto Sans CJK SC"/>
              </a:rPr>
              <a:t>部署 → 触发 → 范围伤害 / 减速 → 失效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47872"/>
            <a:ext cx="1874519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触发窗口、作用半径、生命周期可模拟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407408"/>
            <a:ext cx="6336792" cy="786384"/>
          </a:xfrm>
          <a:prstGeom prst="rect">
            <a:avLst/>
          </a:prstGeom>
          <a:solidFill>
            <a:srgbClr val="12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407408"/>
            <a:ext cx="64008" cy="786384"/>
          </a:xfrm>
          <a:prstGeom prst="rect">
            <a:avLst/>
          </a:prstGeom>
          <a:solidFill>
            <a:srgbClr val="CC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636008"/>
            <a:ext cx="1051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C5F4F"/>
                </a:solidFill>
                <a:latin typeface="Noto Sans CJK SC"/>
              </a:rPr>
              <a:t>支援道具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636008"/>
            <a:ext cx="25146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EFDE"/>
                </a:solidFill>
                <a:latin typeface="Noto Sans CJK SC"/>
              </a:rPr>
              <a:t>选点 → 释放 → 范围效果 → 冷却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572000"/>
            <a:ext cx="1874519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落点、费用、范围与冷却进入运行时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8060" y="1915668"/>
            <a:ext cx="4206240" cy="3794759"/>
          </a:xfrm>
          <a:prstGeom prst="rect">
            <a:avLst/>
          </a:prstGeom>
          <a:solidFill>
            <a:srgbClr val="CC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ain_battle.png"/>
          <p:cNvPicPr>
            <a:picLocks noChangeAspect="1"/>
          </p:cNvPicPr>
          <p:nvPr/>
        </p:nvPicPr>
        <p:blipFill>
          <a:blip r:embed="rId2"/>
          <a:srcRect l="15320" r="15320"/>
          <a:stretch>
            <a:fillRect/>
          </a:stretch>
        </p:blipFill>
        <p:spPr>
          <a:xfrm>
            <a:off x="7360920" y="1938528"/>
            <a:ext cx="4160520" cy="3749039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571231" y="5138928"/>
            <a:ext cx="1508760" cy="329184"/>
          </a:xfrm>
          <a:prstGeom prst="roundRect">
            <a:avLst/>
          </a:prstGeom>
          <a:solidFill>
            <a:srgbClr val="361F1C"/>
          </a:solidFill>
          <a:ln>
            <a:solidFill>
              <a:srgbClr val="CC5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1231" y="5207508"/>
            <a:ext cx="1508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C5F4F"/>
                </a:solidFill>
                <a:latin typeface="Noto Sans CJK SC"/>
              </a:rPr>
              <a:t>RUNTIME BATTLE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88152"/>
            <a:ext cx="6400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EFDE"/>
                </a:solidFill>
                <a:latin typeface="Noto Sans CJK SC"/>
              </a:rPr>
              <a:t>候选只有穿过校验、模拟与晋升，才会成为当前 Session 的玩法资产。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1B7A9"/>
                </a:solidFill>
                <a:latin typeface="Noto Sans CJK SC"/>
              </a:rPr>
              <a:t>Compiler · Tencent Cloud Hackathon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DDA440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DA440"/>
                </a:solidFill>
                <a:latin typeface="Noto Sans CJK SC"/>
              </a:rPr>
              <a:t>05 · Provider 与安全降级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EFDE"/>
                </a:solidFill>
                <a:latin typeface="Noto Sans CJK SC"/>
              </a:rPr>
              <a:t>多 Provider，不把不确定性传给玩家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07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1B7A9"/>
                </a:solidFill>
                <a:latin typeface="Noto Sans CJK SC"/>
              </a:rPr>
              <a:t>模型可以替换、失败或返回不合规候选；统一质量门与安全 fallback 保持玩法可用。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11480"/>
            <a:ext cx="1143000" cy="329184"/>
          </a:xfrm>
          <a:prstGeom prst="roundRect">
            <a:avLst/>
          </a:prstGeom>
          <a:solidFill>
            <a:srgbClr val="14312C"/>
          </a:solidFill>
          <a:ln>
            <a:solidFill>
              <a:srgbClr val="44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0" y="480060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4B1A3"/>
                </a:solidFill>
                <a:latin typeface="Noto Sans CJK SC"/>
              </a:rPr>
              <a:t>已实现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01952"/>
            <a:ext cx="10808208" cy="1325880"/>
          </a:xfrm>
          <a:prstGeom prst="rect">
            <a:avLst/>
          </a:prstGeom>
          <a:solidFill>
            <a:srgbClr val="0D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34747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4B1A3"/>
                </a:solidFill>
                <a:latin typeface="Noto Sans CJK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6916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EFDE"/>
                </a:solidFill>
                <a:latin typeface="Noto Sans CJK SC"/>
              </a:rPr>
              <a:t>玩家意图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2523744"/>
            <a:ext cx="274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212848"/>
            <a:ext cx="34747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DA440"/>
                </a:solidFill>
                <a:latin typeface="Noto Sans CJK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78608"/>
            <a:ext cx="16916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EFDE"/>
                </a:solidFill>
                <a:latin typeface="Noto Sans CJK SC"/>
              </a:rPr>
              <a:t>多 Provider 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523744"/>
            <a:ext cx="274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2212848"/>
            <a:ext cx="34747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C5F4F"/>
                </a:solidFill>
                <a:latin typeface="Noto Sans CJK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578608"/>
            <a:ext cx="16916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EFDE"/>
                </a:solidFill>
                <a:latin typeface="Noto Sans CJK SC"/>
              </a:rPr>
              <a:t>结构化候选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523744"/>
            <a:ext cx="274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3" y="2212848"/>
            <a:ext cx="34747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4B1A3"/>
                </a:solidFill>
                <a:latin typeface="Noto Sans CJK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3" y="2578608"/>
            <a:ext cx="16916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EFDE"/>
                </a:solidFill>
                <a:latin typeface="Noto Sans CJK SC"/>
              </a:rPr>
              <a:t>统一质量门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523744"/>
            <a:ext cx="274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212848"/>
            <a:ext cx="34747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DA440"/>
                </a:solidFill>
                <a:latin typeface="Noto Sans CJK SC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578608"/>
            <a:ext cx="16916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EFDE"/>
                </a:solidFill>
                <a:latin typeface="Noto Sans CJK SC"/>
              </a:rPr>
              <a:t>Session / fallback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40480"/>
            <a:ext cx="2468880" cy="32004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14800"/>
            <a:ext cx="2468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4B1A3"/>
                </a:solidFill>
                <a:latin typeface="Noto Sans CJK SC"/>
              </a:rPr>
              <a:t>输出边界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81728"/>
            <a:ext cx="246888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1B7A9"/>
                </a:solidFill>
                <a:latin typeface="Noto Sans CJK SC"/>
              </a:rPr>
              <a:t>Schema / 语义校验 / 白名单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6432" y="3840480"/>
            <a:ext cx="2468880" cy="32004"/>
          </a:xfrm>
          <a:prstGeom prst="rect">
            <a:avLst/>
          </a:prstGeom>
          <a:solidFill>
            <a:srgbClr val="DDA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4114800"/>
            <a:ext cx="2468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DA440"/>
                </a:solidFill>
                <a:latin typeface="Noto Sans CJK SC"/>
              </a:rPr>
              <a:t>执行边界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4681728"/>
            <a:ext cx="246888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1B7A9"/>
                </a:solidFill>
                <a:latin typeface="Noto Sans CJK SC"/>
              </a:rPr>
              <a:t>确定性模拟 / 预算 / 晋升门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7064" y="3840480"/>
            <a:ext cx="2468880" cy="32004"/>
          </a:xfrm>
          <a:prstGeom prst="rect">
            <a:avLst/>
          </a:prstGeom>
          <a:solidFill>
            <a:srgbClr val="CC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7064" y="4114800"/>
            <a:ext cx="2468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C5F4F"/>
                </a:solidFill>
                <a:latin typeface="Noto Sans CJK SC"/>
              </a:rPr>
              <a:t>状态边界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4681728"/>
            <a:ext cx="246888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1B7A9"/>
                </a:solidFill>
                <a:latin typeface="Noto Sans CJK SC"/>
              </a:rPr>
              <a:t>Session 隔离 / 激活回执 / 可回退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97696" y="3840480"/>
            <a:ext cx="2468880" cy="32004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97696" y="4114800"/>
            <a:ext cx="2468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4B1A3"/>
                </a:solidFill>
                <a:latin typeface="Noto Sans CJK SC"/>
              </a:rPr>
              <a:t>降级边界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7696" y="4681728"/>
            <a:ext cx="246888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1B7A9"/>
                </a:solidFill>
                <a:latin typeface="Noto Sans CJK SC"/>
              </a:rPr>
              <a:t>候选不可用 → 安全 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715000"/>
            <a:ext cx="96469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3EFDE"/>
                </a:solidFill>
                <a:latin typeface="Noto Sans CJK SC"/>
              </a:rPr>
              <a:t>Provider 负责提出可能性；Compiler 负责决定什么能进入游戏。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1B7A9"/>
                </a:solidFill>
                <a:latin typeface="Noto Sans CJK SC"/>
              </a:rPr>
              <a:t>Compiler · Tencent Cloud Hackathon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DDA440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DA440"/>
                </a:solidFill>
                <a:latin typeface="Noto Sans CJK SC"/>
              </a:rPr>
              <a:t>06 · 地图编译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EFDE"/>
                </a:solidFill>
                <a:latin typeface="Noto Sans CJK SC"/>
              </a:rPr>
              <a:t>地图结构闭环，视觉仍用 reviewed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07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1B7A9"/>
                </a:solidFill>
                <a:latin typeface="Noto Sans CJK SC"/>
              </a:rPr>
              <a:t>逻辑事实与视觉表现分离：路线、塔位、出生点和目标不由一张生成图反推。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411480"/>
            <a:ext cx="1645920" cy="329184"/>
          </a:xfrm>
          <a:prstGeom prst="roundRect">
            <a:avLst/>
          </a:prstGeom>
          <a:solidFill>
            <a:srgbClr val="14312C"/>
          </a:solidFill>
          <a:ln>
            <a:solidFill>
              <a:srgbClr val="44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480060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4B1A3"/>
                </a:solidFill>
                <a:latin typeface="Noto Sans CJK SC"/>
              </a:rPr>
              <a:t>结构管线 · 已实现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93808" y="411480"/>
            <a:ext cx="1627632" cy="329184"/>
          </a:xfrm>
          <a:prstGeom prst="roundRect">
            <a:avLst/>
          </a:prstGeom>
          <a:solidFill>
            <a:srgbClr val="3C301A"/>
          </a:solidFill>
          <a:ln>
            <a:solidFill>
              <a:srgbClr val="DDA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93808" y="480060"/>
            <a:ext cx="162763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DDA440"/>
                </a:solidFill>
                <a:latin typeface="Noto Sans CJK SC"/>
              </a:rPr>
              <a:t>当前视觉 ·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19" y="1879092"/>
            <a:ext cx="5120640" cy="4142232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_map.png"/>
          <p:cNvPicPr>
            <a:picLocks noChangeAspect="1"/>
          </p:cNvPicPr>
          <p:nvPr/>
        </p:nvPicPr>
        <p:blipFill>
          <a:blip r:embed="rId2"/>
          <a:srcRect l="11286" r="11286"/>
          <a:stretch>
            <a:fillRect/>
          </a:stretch>
        </p:blipFill>
        <p:spPr>
          <a:xfrm>
            <a:off x="640080" y="1901952"/>
            <a:ext cx="5074920" cy="409651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44768" y="1901952"/>
            <a:ext cx="5376672" cy="32004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2066544"/>
            <a:ext cx="537667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4B1A3"/>
                </a:solidFill>
                <a:latin typeface="Noto Sans CJK SC"/>
              </a:rPr>
              <a:t>STRUCTURE / 已实现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2395728"/>
            <a:ext cx="5376672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EFDE"/>
                </a:solidFill>
                <a:latin typeface="Noto Sans CJK SC"/>
              </a:rPr>
              <a:t>地图分层编译闭环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2944368"/>
            <a:ext cx="4114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4B1A3"/>
                </a:solidFill>
                <a:latin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926080"/>
            <a:ext cx="20116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3EFDE"/>
                </a:solidFill>
                <a:latin typeface="Noto Sans CJK SC"/>
              </a:rPr>
              <a:t>LogicMapIR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926080"/>
            <a:ext cx="26974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拓扑、路径、部署槽位、出生点与目标可测试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3474720"/>
            <a:ext cx="4800600" cy="32004"/>
          </a:xfrm>
          <a:prstGeom prst="rect">
            <a:avLst/>
          </a:prstGeom>
          <a:solidFill>
            <a:srgbClr val="12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3785616"/>
            <a:ext cx="4114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DA440"/>
                </a:solidFill>
                <a:latin typeface="Noto Sans CJK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67328"/>
            <a:ext cx="20116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3EFDE"/>
                </a:solidFill>
                <a:latin typeface="Noto Sans CJK SC"/>
              </a:rPr>
              <a:t>VisualMaterialPack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767328"/>
            <a:ext cx="26974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材质候选与逻辑坐标解耦，保留审查入口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4315968"/>
            <a:ext cx="4800600" cy="32004"/>
          </a:xfrm>
          <a:prstGeom prst="rect">
            <a:avLst/>
          </a:prstGeom>
          <a:solidFill>
            <a:srgbClr val="12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4626864"/>
            <a:ext cx="4114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5F4F"/>
                </a:solidFill>
                <a:latin typeface="Noto Sans CJK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608576"/>
            <a:ext cx="20116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3EFDE"/>
                </a:solidFill>
                <a:latin typeface="Noto Sans CJK SC"/>
              </a:rPr>
              <a:t>MapVisualRuntimePackage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608576"/>
            <a:ext cx="26974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1B7A9"/>
                </a:solidFill>
                <a:latin typeface="Noto Sans CJK SC"/>
              </a:rPr>
              <a:t>确定性合成、运行时高亮与 fallback 契约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5413248"/>
            <a:ext cx="5376672" cy="585216"/>
          </a:xfrm>
          <a:prstGeom prst="rect">
            <a:avLst/>
          </a:prstGeom>
          <a:solidFill>
            <a:srgbClr val="3C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5577840"/>
            <a:ext cx="960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DA440"/>
                </a:solidFill>
                <a:latin typeface="Noto Sans CJK SC"/>
              </a:rPr>
              <a:t>边界说明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5550408"/>
            <a:ext cx="3749039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3EFDE"/>
                </a:solidFill>
                <a:latin typeface="Noto Sans CJK SC"/>
              </a:rPr>
              <a:t>当前可玩地图视觉仍使用 reviewed fallback，不把候选视觉表述为已发布成果。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1B7A9"/>
                </a:solidFill>
                <a:latin typeface="Noto Sans CJK SC"/>
              </a:rPr>
              <a:t>Compiler · Tencent Cloud Hackathon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DDA440"/>
                </a:solidFill>
                <a:latin typeface="Noto Sans CJK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DA440"/>
                </a:solidFill>
                <a:latin typeface="Noto Sans CJK SC"/>
              </a:rPr>
              <a:t>07 · 三个编译世界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EFDE"/>
                </a:solidFill>
                <a:latin typeface="Noto Sans CJK SC"/>
              </a:rPr>
              <a:t>同一套 Compiler，进入三条完整页面链路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07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1B7A9"/>
                </a:solidFill>
                <a:latin typeface="Noto Sans CJK SC"/>
              </a:rPr>
              <a:t>仙侠、西幻与科幻拥有各自的世界书、开场、战略地图、工坊上下文与首关。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411480"/>
            <a:ext cx="1554480" cy="329184"/>
          </a:xfrm>
          <a:prstGeom prst="roundRect">
            <a:avLst/>
          </a:prstGeom>
          <a:solidFill>
            <a:srgbClr val="14312C"/>
          </a:solidFill>
          <a:ln>
            <a:solidFill>
              <a:srgbClr val="44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480060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4B1A3"/>
                </a:solidFill>
                <a:latin typeface="Noto Sans CJK SC"/>
              </a:rPr>
              <a:t>已实现 · 3 WORLDS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19" y="1879092"/>
            <a:ext cx="3429000" cy="3429000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ianxia_map.png"/>
          <p:cNvPicPr>
            <a:picLocks noChangeAspect="1"/>
          </p:cNvPicPr>
          <p:nvPr/>
        </p:nvPicPr>
        <p:blipFill>
          <a:blip r:embed="rId2"/>
          <a:srcRect l="21875" r="21875"/>
          <a:stretch>
            <a:fillRect/>
          </a:stretch>
        </p:blipFill>
        <p:spPr>
          <a:xfrm>
            <a:off x="640080" y="1901952"/>
            <a:ext cx="3383280" cy="3383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5468112"/>
            <a:ext cx="3383280" cy="32004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96128"/>
            <a:ext cx="3383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4B1A3"/>
                </a:solidFill>
                <a:latin typeface="Noto Sans CJK SC"/>
              </a:rPr>
              <a:t>云海断峰关 · 仙侠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3383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1B7A9"/>
                </a:solidFill>
                <a:latin typeface="Noto Sans CJK SC"/>
              </a:rPr>
              <a:t>灵脉为路，符阵为城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4548" y="1879092"/>
            <a:ext cx="3429000" cy="3429000"/>
          </a:xfrm>
          <a:prstGeom prst="rect">
            <a:avLst/>
          </a:prstGeom>
          <a:solidFill>
            <a:srgbClr val="DDA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estern_map.png"/>
          <p:cNvPicPr>
            <a:picLocks noChangeAspect="1"/>
          </p:cNvPicPr>
          <p:nvPr/>
        </p:nvPicPr>
        <p:blipFill>
          <a:blip r:embed="rId3"/>
          <a:srcRect l="21875" r="21875"/>
          <a:stretch>
            <a:fillRect/>
          </a:stretch>
        </p:blipFill>
        <p:spPr>
          <a:xfrm>
            <a:off x="4407408" y="1901952"/>
            <a:ext cx="3383280" cy="33832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07408" y="5468112"/>
            <a:ext cx="3383280" cy="32004"/>
          </a:xfrm>
          <a:prstGeom prst="rect">
            <a:avLst/>
          </a:prstGeom>
          <a:solidFill>
            <a:srgbClr val="DDA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5596128"/>
            <a:ext cx="3383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DA440"/>
                </a:solidFill>
                <a:latin typeface="Noto Sans CJK SC"/>
              </a:rPr>
              <a:t>石风边境领 · 西幻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5943600"/>
            <a:ext cx="3383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1B7A9"/>
                </a:solidFill>
                <a:latin typeface="Noto Sans CJK SC"/>
              </a:rPr>
              <a:t>沼泽荒原上的最后堡垒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1875" y="1879092"/>
            <a:ext cx="3429000" cy="3429000"/>
          </a:xfrm>
          <a:prstGeom prst="rect">
            <a:avLst/>
          </a:prstGeom>
          <a:solidFill>
            <a:srgbClr val="CC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ifi_map.png"/>
          <p:cNvPicPr>
            <a:picLocks noChangeAspect="1"/>
          </p:cNvPicPr>
          <p:nvPr/>
        </p:nvPicPr>
        <p:blipFill>
          <a:blip r:embed="rId4"/>
          <a:srcRect l="21875" r="21875"/>
          <a:stretch>
            <a:fillRect/>
          </a:stretch>
        </p:blipFill>
        <p:spPr>
          <a:xfrm>
            <a:off x="8174736" y="1901952"/>
            <a:ext cx="3383280" cy="33832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174736" y="5468112"/>
            <a:ext cx="3383280" cy="32004"/>
          </a:xfrm>
          <a:prstGeom prst="rect">
            <a:avLst/>
          </a:prstGeom>
          <a:solidFill>
            <a:srgbClr val="CC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5596128"/>
            <a:ext cx="3383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CC5F4F"/>
                </a:solidFill>
                <a:latin typeface="Noto Sans CJK SC"/>
              </a:rPr>
              <a:t>星锚轨道站 · 科幻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5943600"/>
            <a:ext cx="3383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1B7A9"/>
                </a:solidFill>
                <a:latin typeface="Noto Sans CJK SC"/>
              </a:rPr>
              <a:t>轨道设施的模块化防线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6236208"/>
            <a:ext cx="67208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3EFDE"/>
                </a:solidFill>
                <a:latin typeface="Noto Sans CJK SC"/>
              </a:rPr>
              <a:t>共同链路：世界书 → 开场 → 战略地图 → 工坊 → 首关战斗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1B7A9"/>
                </a:solidFill>
                <a:latin typeface="Noto Sans CJK SC"/>
              </a:rPr>
              <a:t>Compiler · Tencent Cloud Hackathon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DDA440"/>
                </a:solidFill>
                <a:latin typeface="Noto Sans CJK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DA440"/>
                </a:solidFill>
                <a:latin typeface="Noto Sans CJK SC"/>
              </a:rPr>
              <a:t>08 · AI 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EFDE"/>
                </a:solidFill>
                <a:latin typeface="Noto Sans CJK SC"/>
              </a:rPr>
              <a:t>工具参与生产，质量门决定发布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07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1B7A9"/>
                </a:solidFill>
                <a:latin typeface="Noto Sans CJK SC"/>
              </a:rPr>
              <a:t>代码、结构化玩法候选和视觉候选来自不同工具；任何模型输出都不直接成为交付结果。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01952"/>
            <a:ext cx="2468880" cy="32004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66544"/>
            <a:ext cx="24688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4B1A3"/>
                </a:solidFill>
                <a:latin typeface="Noto Sans CJK SC"/>
              </a:rPr>
              <a:t>TOOL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95728"/>
            <a:ext cx="24688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EFDE"/>
                </a:solidFill>
                <a:latin typeface="Noto Sans CJK SC"/>
              </a:rPr>
              <a:t>CodeBuddy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24688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1B7A9"/>
                </a:solidFill>
                <a:latin typeface="Noto Sans CJK SC"/>
              </a:rPr>
              <a:t>实现、重构</a:t>
            </a:r>
            <a:br/>
            <a:r>
              <a:rPr sz="1300" b="0">
                <a:solidFill>
                  <a:srgbClr val="B1B7A9"/>
                </a:solidFill>
                <a:latin typeface="Noto Sans CJK SC"/>
              </a:rPr>
              <a:t>与代码审查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901952"/>
            <a:ext cx="2468880" cy="32004"/>
          </a:xfrm>
          <a:prstGeom prst="rect">
            <a:avLst/>
          </a:prstGeom>
          <a:solidFill>
            <a:srgbClr val="DDA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2066544"/>
            <a:ext cx="24688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DA440"/>
                </a:solidFill>
                <a:latin typeface="Noto Sans CJK SC"/>
              </a:rPr>
              <a:t>TOOL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395728"/>
            <a:ext cx="24688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EFDE"/>
                </a:solidFill>
                <a:latin typeface="Noto Sans CJK SC"/>
              </a:rPr>
              <a:t>Codex / OpenCode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3108960"/>
            <a:ext cx="24688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1B7A9"/>
                </a:solidFill>
                <a:latin typeface="Noto Sans CJK SC"/>
              </a:rPr>
              <a:t>架构、编排</a:t>
            </a:r>
            <a:br/>
            <a:r>
              <a:rPr sz="1300" b="0">
                <a:solidFill>
                  <a:srgbClr val="B1B7A9"/>
                </a:solidFill>
                <a:latin typeface="Noto Sans CJK SC"/>
              </a:rPr>
              <a:t>与集成验收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1901952"/>
            <a:ext cx="2468880" cy="32004"/>
          </a:xfrm>
          <a:prstGeom prst="rect">
            <a:avLst/>
          </a:prstGeom>
          <a:solidFill>
            <a:srgbClr val="CC5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2066544"/>
            <a:ext cx="24688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5F4F"/>
                </a:solidFill>
                <a:latin typeface="Noto Sans CJK SC"/>
              </a:rPr>
              <a:t>TOOL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2395728"/>
            <a:ext cx="24688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EFDE"/>
                </a:solidFill>
                <a:latin typeface="Noto Sans CJK SC"/>
              </a:rPr>
              <a:t>DeepSeek / GLM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3108960"/>
            <a:ext cx="24688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1B7A9"/>
                </a:solidFill>
                <a:latin typeface="Noto Sans CJK SC"/>
              </a:rPr>
              <a:t>结构化玩法候选</a:t>
            </a:r>
            <a:br/>
            <a:r>
              <a:rPr sz="1300" b="0">
                <a:solidFill>
                  <a:srgbClr val="B1B7A9"/>
                </a:solidFill>
                <a:latin typeface="Noto Sans CJK SC"/>
              </a:rPr>
              <a:t>与 Provider 协作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468880" cy="32004"/>
          </a:xfrm>
          <a:prstGeom prst="rect">
            <a:avLst/>
          </a:prstGeom>
          <a:solidFill>
            <a:srgbClr val="44B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2066544"/>
            <a:ext cx="24688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4B1A3"/>
                </a:solidFill>
                <a:latin typeface="Noto Sans CJK SC"/>
              </a:rPr>
              <a:t>TOOL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395728"/>
            <a:ext cx="24688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EFDE"/>
                </a:solidFill>
                <a:latin typeface="Noto Sans CJK SC"/>
              </a:rPr>
              <a:t>Agnes / 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3108960"/>
            <a:ext cx="24688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1B7A9"/>
                </a:solidFill>
                <a:latin typeface="Noto Sans CJK SC"/>
              </a:rPr>
              <a:t>图像模型：视觉候选</a:t>
            </a:r>
            <a:br/>
            <a:r>
              <a:rPr sz="1300" b="0">
                <a:solidFill>
                  <a:srgbClr val="B1B7A9"/>
                </a:solidFill>
                <a:latin typeface="Noto Sans CJK SC"/>
              </a:rPr>
              <a:t>与风格探索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343400"/>
            <a:ext cx="10808208" cy="1353312"/>
          </a:xfrm>
          <a:prstGeom prst="rect">
            <a:avLst/>
          </a:prstGeom>
          <a:solidFill>
            <a:srgbClr val="0D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617720"/>
            <a:ext cx="1325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DA440"/>
                </a:solidFill>
                <a:latin typeface="Noto Sans CJK SC"/>
              </a:rPr>
              <a:t>QUALITY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8348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EFDE"/>
                </a:solidFill>
                <a:latin typeface="Noto Sans CJK SC"/>
              </a:rPr>
              <a:t>Schema / 语义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956048"/>
            <a:ext cx="320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98348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EFDE"/>
                </a:solidFill>
                <a:latin typeface="Noto Sans CJK SC"/>
              </a:rPr>
              <a:t>模拟 / 晋升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4956048"/>
            <a:ext cx="320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98348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EFDE"/>
                </a:solidFill>
                <a:latin typeface="Noto Sans CJK SC"/>
              </a:rPr>
              <a:t>多模态审查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956048"/>
            <a:ext cx="320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983480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EFDE"/>
                </a:solidFill>
                <a:latin typeface="Noto Sans CJK SC"/>
              </a:rPr>
              <a:t>自动测试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4956048"/>
            <a:ext cx="320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1B7A9"/>
                </a:solidFill>
                <a:latin typeface="Noto Sans CJK S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983480"/>
            <a:ext cx="13258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EFDE"/>
                </a:solidFill>
                <a:latin typeface="Noto Sans CJK SC"/>
              </a:rPr>
              <a:t>人工终审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43600"/>
            <a:ext cx="103784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B1B7A9"/>
                </a:solidFill>
                <a:latin typeface="Noto Sans CJK SC"/>
              </a:rPr>
              <a:t>统一验收对象：代码、Runtime package、发布证据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1B7A9"/>
                </a:solidFill>
                <a:latin typeface="Noto Sans CJK SC"/>
              </a:rPr>
              <a:t>Compiler · Tencent Cloud Hackathon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DDA440"/>
                </a:solidFill>
                <a:latin typeface="Noto Sans CJK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DA440"/>
                </a:solidFill>
                <a:latin typeface="Noto Sans CJK SC"/>
              </a:rPr>
              <a:t>09 · NOW /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881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3EFDE"/>
                </a:solidFill>
                <a:latin typeface="Noto Sans CJK SC"/>
              </a:rPr>
              <a:t>已经发生的，与接下来要发生的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07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1B7A9"/>
                </a:solidFill>
                <a:latin typeface="Noto Sans CJK SC"/>
              </a:rPr>
              <a:t>本次 Demo 只把经过运行链路验证的能力标为“已实现”；长期世界演化明确属于后续规划。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5349240" cy="4325112"/>
          </a:xfrm>
          <a:prstGeom prst="rect">
            <a:avLst/>
          </a:prstGeom>
          <a:solidFill>
            <a:srgbClr val="14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148840"/>
            <a:ext cx="1280160" cy="329184"/>
          </a:xfrm>
          <a:prstGeom prst="roundRect">
            <a:avLst/>
          </a:prstGeom>
          <a:solidFill>
            <a:srgbClr val="0D1E1C"/>
          </a:solidFill>
          <a:ln>
            <a:solidFill>
              <a:srgbClr val="44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17420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4B1A3"/>
                </a:solidFill>
                <a:latin typeface="Noto Sans CJK SC"/>
              </a:rPr>
              <a:t>已实现 ·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45262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EFDE"/>
                </a:solidFill>
                <a:latin typeface="Noto Sans CJK SC"/>
              </a:rPr>
              <a:t>当前可验证能力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310128"/>
            <a:ext cx="21945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DA440"/>
                </a:solidFill>
                <a:latin typeface="Noto Sans CJK S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319272"/>
            <a:ext cx="44622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3EFDE"/>
                </a:solidFill>
                <a:latin typeface="Noto Sans CJK SC"/>
              </a:rPr>
              <a:t>自然语言意图 → 结构化解析 → 校验 → 模拟 → 晋升激活 →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840480"/>
            <a:ext cx="21945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DA440"/>
                </a:solidFill>
                <a:latin typeface="Noto Sans CJK S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849624"/>
            <a:ext cx="44622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3EFDE"/>
                </a:solidFill>
                <a:latin typeface="Noto Sans CJK SC"/>
              </a:rPr>
              <a:t>塔 / 陷阱 / 支援道具均有可观察的行为闭环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70832"/>
            <a:ext cx="21945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DA440"/>
                </a:solidFill>
                <a:latin typeface="Noto Sans CJK S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379976"/>
            <a:ext cx="44622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3EFDE"/>
                </a:solidFill>
                <a:latin typeface="Noto Sans CJK SC"/>
              </a:rPr>
              <a:t>仙侠 / 西幻 / 科幻均可进入完整页面链路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901183"/>
            <a:ext cx="21945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DA440"/>
                </a:solidFill>
                <a:latin typeface="Noto Sans CJK S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910327"/>
            <a:ext cx="44622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3EFDE"/>
                </a:solidFill>
                <a:latin typeface="Noto Sans CJK SC"/>
              </a:rPr>
              <a:t>多 Provider 路由与安全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431536"/>
            <a:ext cx="21945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DA440"/>
                </a:solidFill>
                <a:latin typeface="Noto Sans CJK S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5440679"/>
            <a:ext cx="44622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3EFDE"/>
                </a:solidFill>
                <a:latin typeface="Noto Sans CJK SC"/>
              </a:rPr>
              <a:t>地图分层编译已有结构闭环；当前视觉为 reviewed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874519"/>
            <a:ext cx="5349240" cy="4325112"/>
          </a:xfrm>
          <a:prstGeom prst="rect">
            <a:avLst/>
          </a:prstGeom>
          <a:solidFill>
            <a:srgbClr val="3C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55664" y="2148840"/>
            <a:ext cx="1508760" cy="329184"/>
          </a:xfrm>
          <a:prstGeom prst="roundRect">
            <a:avLst/>
          </a:prstGeom>
          <a:solidFill>
            <a:srgbClr val="121914"/>
          </a:solidFill>
          <a:ln>
            <a:solidFill>
              <a:srgbClr val="DDA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217420"/>
            <a:ext cx="1508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DDA440"/>
                </a:solidFill>
                <a:latin typeface="Noto Sans CJK SC"/>
              </a:rPr>
              <a:t>后续规划 ·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670048"/>
            <a:ext cx="45262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EFDE"/>
                </a:solidFill>
                <a:latin typeface="Noto Sans CJK SC"/>
              </a:rPr>
              <a:t>不作为本次 Demo 成果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310128"/>
            <a:ext cx="21945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DA440"/>
                </a:solidFill>
                <a:latin typeface="Noto Sans CJK S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3" y="3319272"/>
            <a:ext cx="44622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EFDE"/>
                </a:solidFill>
                <a:latin typeface="Noto Sans CJK SC"/>
              </a:rPr>
              <a:t>更深剧情：长期角色关系与分支叙事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950208"/>
            <a:ext cx="21945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DA440"/>
                </a:solidFill>
                <a:latin typeface="Noto Sans CJK S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3" y="3959352"/>
            <a:ext cx="44622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EFDE"/>
                </a:solidFill>
                <a:latin typeface="Noto Sans CJK SC"/>
              </a:rPr>
              <a:t>任务系统：可编译目标、奖励与状态变化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590288"/>
            <a:ext cx="21945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DA440"/>
                </a:solidFill>
                <a:latin typeface="Noto Sans CJK S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3" y="4599431"/>
            <a:ext cx="44622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EFDE"/>
                </a:solidFill>
                <a:latin typeface="Noto Sans CJK SC"/>
              </a:rPr>
              <a:t>随机事件：在预算与世界规则内生成局势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5230368"/>
            <a:ext cx="21945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DA440"/>
                </a:solidFill>
                <a:latin typeface="Noto Sans CJK S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3" y="5239512"/>
            <a:ext cx="44622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EFDE"/>
                </a:solidFill>
                <a:latin typeface="Noto Sans CJK SC"/>
              </a:rPr>
              <a:t>世界持续生长：跨局演化、记忆与长期进度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5715000"/>
            <a:ext cx="4617720" cy="329184"/>
          </a:xfrm>
          <a:prstGeom prst="rect">
            <a:avLst/>
          </a:prstGeom>
          <a:solidFill>
            <a:srgbClr val="12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788152"/>
            <a:ext cx="4251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DDA440"/>
                </a:solidFill>
                <a:latin typeface="Noto Sans CJK SC"/>
              </a:rPr>
              <a:t>路线图，尚未标记为已实现。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1B7A9"/>
                </a:solidFill>
                <a:latin typeface="Noto Sans CJK SC"/>
              </a:rPr>
              <a:t>Compiler · Tencent Cloud Hackathon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DDA440"/>
                </a:solidFill>
                <a:latin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3952" y="0"/>
            <a:ext cx="5717743" cy="6858000"/>
          </a:xfrm>
          <a:prstGeom prst="rect">
            <a:avLst/>
          </a:prstGeom>
          <a:solidFill>
            <a:srgbClr val="12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n_battle.png"/>
          <p:cNvPicPr>
            <a:picLocks noChangeAspect="1"/>
          </p:cNvPicPr>
          <p:nvPr/>
        </p:nvPicPr>
        <p:blipFill>
          <a:blip r:embed="rId2"/>
          <a:srcRect l="24029" r="24029"/>
          <a:stretch>
            <a:fillRect/>
          </a:stretch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8" y="859536"/>
            <a:ext cx="1371600" cy="329184"/>
          </a:xfrm>
          <a:prstGeom prst="roundRect">
            <a:avLst/>
          </a:prstGeom>
          <a:solidFill>
            <a:srgbClr val="14312C"/>
          </a:solidFill>
          <a:ln>
            <a:solidFill>
              <a:srgbClr val="44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28115"/>
            <a:ext cx="1371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4B1A3"/>
                </a:solidFill>
                <a:latin typeface="Noto Sans CJK SC"/>
              </a:rPr>
              <a:t>VIBE PLAYING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4924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700" b="1">
                <a:solidFill>
                  <a:srgbClr val="F3EFDE"/>
                </a:solidFill>
                <a:latin typeface="Noto Sans CJK SC"/>
              </a:rPr>
              <a:t>从 Vibe Coding</a:t>
            </a:r>
            <a:br/>
            <a:r>
              <a:rPr sz="3700" b="1">
                <a:solidFill>
                  <a:srgbClr val="F3EFDE"/>
                </a:solidFill>
                <a:latin typeface="Noto Sans CJK SC"/>
              </a:rPr>
              <a:t>到 Vibe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73552"/>
            <a:ext cx="534924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DA440"/>
                </a:solidFill>
                <a:latin typeface="Noto Sans CJK SC"/>
              </a:rPr>
              <a:t>AI 原生游戏不只生成内容，</a:t>
            </a:r>
            <a:br/>
            <a:r>
              <a:rPr sz="1700" b="1">
                <a:solidFill>
                  <a:srgbClr val="DDA440"/>
                </a:solidFill>
                <a:latin typeface="Noto Sans CJK SC"/>
              </a:rPr>
              <a:t>它把玩家意图变为可验证、可执行、可回退的玩法。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846320"/>
            <a:ext cx="4892040" cy="32004"/>
          </a:xfrm>
          <a:prstGeom prst="rect">
            <a:avLst/>
          </a:prstGeom>
          <a:solidFill>
            <a:srgbClr val="B1B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138928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1B7A9"/>
                </a:solidFill>
                <a:latin typeface="Noto Sans CJK SC"/>
              </a:rPr>
              <a:t>结构化解析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5138928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1B7A9"/>
                </a:solidFill>
                <a:latin typeface="Noto Sans CJK SC"/>
              </a:rPr>
              <a:t>校验与模拟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138928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1B7A9"/>
                </a:solidFill>
                <a:latin typeface="Noto Sans CJK SC"/>
              </a:rPr>
              <a:t>Session 激活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916168"/>
            <a:ext cx="2743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4B1A3"/>
                </a:solidFill>
                <a:latin typeface="Noto Sans CJK SC"/>
              </a:rPr>
              <a:t>TEAM COMPILER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1B7A9"/>
                </a:solidFill>
                <a:latin typeface="Noto Sans CJK SC"/>
              </a:rPr>
              <a:t>Compiler · Tencent Cloud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DDA440"/>
                </a:solidFill>
                <a:latin typeface="Noto Sans CJK SC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