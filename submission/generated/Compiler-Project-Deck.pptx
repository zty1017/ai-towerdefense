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mpiler_project_poster_16x9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01 · AI 原生游戏范式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Vibe Coding 之后，是 Vibe Playing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把“自然语言 → 可运行软件”的范式，迁移为“玩家意图 → 可验证玩法 → 当前 Session”。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65960"/>
            <a:ext cx="297180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30552"/>
            <a:ext cx="2971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VIBE 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2971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意图变成软件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2971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3EFDE"/>
                </a:solidFill>
                <a:latin typeface="Noto Sans CJK SC"/>
              </a:rPr>
              <a:t>自然语言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10128"/>
            <a:ext cx="29718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→ 结构化产物 → 可运行应用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77639"/>
            <a:ext cx="297180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1B7A9"/>
                </a:solidFill>
                <a:latin typeface="Noto Sans CJK SC"/>
              </a:rPr>
              <a:t>人描述目标，AI 与工程系统完成实现。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0288" y="1965960"/>
            <a:ext cx="2971800" cy="3200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130552"/>
            <a:ext cx="2971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PARADIGM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459736"/>
            <a:ext cx="2971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把生成接入运行时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880360"/>
            <a:ext cx="2971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3EFDE"/>
                </a:solidFill>
                <a:latin typeface="Noto Sans CJK SC"/>
              </a:rPr>
              <a:t>理解只是起点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310128"/>
            <a:ext cx="29718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→ 校验 → 模拟 → 晋升激活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977639"/>
            <a:ext cx="297180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1B7A9"/>
                </a:solidFill>
                <a:latin typeface="Noto Sans CJK SC"/>
              </a:rPr>
              <a:t>AI 输出必须穿过游戏规则与质量门。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965960"/>
            <a:ext cx="2971800" cy="32004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130552"/>
            <a:ext cx="29718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5F4F"/>
                </a:solidFill>
                <a:latin typeface="Noto Sans CJK SC"/>
              </a:rPr>
              <a:t>VIBE PLAYING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459736"/>
            <a:ext cx="2971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意图变成玩法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880360"/>
            <a:ext cx="2971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3EFDE"/>
                </a:solidFill>
                <a:latin typeface="Noto Sans CJK SC"/>
              </a:rPr>
              <a:t>自然语言意图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310128"/>
            <a:ext cx="29718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→ Runtime asset → 当前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977639"/>
            <a:ext cx="297180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1B7A9"/>
                </a:solidFill>
                <a:latin typeface="Noto Sans CJK SC"/>
              </a:rPr>
              <a:t>玩家提出想法，并在战场上观察结果。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983480"/>
            <a:ext cx="10789920" cy="941832"/>
          </a:xfrm>
          <a:prstGeom prst="rect">
            <a:avLst/>
          </a:prstGeom>
          <a:solidFill>
            <a:srgbClr val="0D1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5266944"/>
            <a:ext cx="132588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35524"/>
            <a:ext cx="13258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本作验证命题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5230368"/>
            <a:ext cx="864108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3EFDE"/>
                </a:solidFill>
                <a:latin typeface="Noto Sans CJK SC"/>
              </a:rPr>
              <a:t>AI 原生游戏的关键，不是生成更多文案，而是改变玩家与系统的交互合同。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02 · 玩家体验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玩家眼中的一条完整链路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技术管线留在后台；前台只有世界、工坊，以及新能力进入战场的结果。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7000" y="411480"/>
            <a:ext cx="114300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0" y="480060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19" y="1879092"/>
            <a:ext cx="3447288" cy="3447288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in_map.png"/>
          <p:cNvPicPr>
            <a:picLocks noChangeAspect="1"/>
          </p:cNvPicPr>
          <p:nvPr/>
        </p:nvPicPr>
        <p:blipFill>
          <a:blip r:embed="rId2"/>
          <a:srcRect l="18750" r="18750"/>
          <a:stretch>
            <a:fillRect/>
          </a:stretch>
        </p:blipFill>
        <p:spPr>
          <a:xfrm>
            <a:off x="640080" y="1901952"/>
            <a:ext cx="3401568" cy="34015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75403" y="1879092"/>
            <a:ext cx="3447288" cy="3447288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_workshop.png"/>
          <p:cNvPicPr>
            <a:picLocks noChangeAspect="1"/>
          </p:cNvPicPr>
          <p:nvPr/>
        </p:nvPicPr>
        <p:blipFill>
          <a:blip r:embed="rId3"/>
          <a:srcRect l="18750" r="18750"/>
          <a:stretch>
            <a:fillRect/>
          </a:stretch>
        </p:blipFill>
        <p:spPr>
          <a:xfrm>
            <a:off x="4398264" y="1901952"/>
            <a:ext cx="3401568" cy="34015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133588" y="1879092"/>
            <a:ext cx="3447288" cy="3447288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ain_battle.png"/>
          <p:cNvPicPr>
            <a:picLocks noChangeAspect="1"/>
          </p:cNvPicPr>
          <p:nvPr/>
        </p:nvPicPr>
        <p:blipFill>
          <a:blip r:embed="rId4"/>
          <a:srcRect l="18750" r="18750"/>
          <a:stretch>
            <a:fillRect/>
          </a:stretch>
        </p:blipFill>
        <p:spPr>
          <a:xfrm>
            <a:off x="8156448" y="1901952"/>
            <a:ext cx="3401568" cy="3401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9080" y="3319272"/>
            <a:ext cx="292608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3319272"/>
            <a:ext cx="292608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449824"/>
            <a:ext cx="3182112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DDA440"/>
                </a:solidFill>
                <a:latin typeface="Noto Sans CJK SC"/>
              </a:rPr>
              <a:t>01 进入世界与战略地图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5449824"/>
            <a:ext cx="3182112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44B1A3"/>
                </a:solidFill>
                <a:latin typeface="Noto Sans CJK SC"/>
              </a:rPr>
              <a:t>02 用自然语言提出意图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5449824"/>
            <a:ext cx="3182112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C5F4F"/>
                </a:solidFill>
                <a:latin typeface="Noto Sans CJK SC"/>
              </a:rPr>
              <a:t>03 激活样品并观察行为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980176"/>
            <a:ext cx="8275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3EFDE"/>
                </a:solidFill>
                <a:latin typeface="Noto Sans CJK SC"/>
              </a:rPr>
              <a:t>三个编译世界均可进入这条完整页面链路。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03 · AI 编译器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从一句话，到一个可激活的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自然语言输入可以自由；进入运行时之前，每一步都必须结构化、可验证、可审计。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7000" y="411480"/>
            <a:ext cx="114300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0" y="480060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84831"/>
            <a:ext cx="1609344" cy="73152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玩家自然语言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意图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1992" y="295351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96312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96312" y="2084831"/>
            <a:ext cx="1609344" cy="73152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0904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0904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Parse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Provider 输出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结构化候选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3944" y="295351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8264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98264" y="2084831"/>
            <a:ext cx="1609344" cy="73152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5F4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Schema + 语义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约束校验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25896" y="295351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0216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0216" y="2084831"/>
            <a:ext cx="1609344" cy="73152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8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Simulate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8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确定性模拟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与预算检查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295351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02168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02168" y="2084831"/>
            <a:ext cx="1609344" cy="73152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Promote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晋升报告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决定可否发布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953512"/>
            <a:ext cx="256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04120" y="2084831"/>
            <a:ext cx="1609344" cy="2148840"/>
          </a:xfrm>
          <a:prstGeom prst="rect">
            <a:avLst/>
          </a:prstGeom>
          <a:solidFill>
            <a:srgbClr val="121914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04120" y="2084831"/>
            <a:ext cx="1609344" cy="73152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8712" y="2350008"/>
            <a:ext cx="4114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5F4F"/>
                </a:solidFill>
                <a:latin typeface="Noto Sans CJK SC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68712" y="2706624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3EFDE"/>
                </a:solidFill>
                <a:latin typeface="Noto Sans CJK SC"/>
              </a:rPr>
              <a:t>Activate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68712" y="3246120"/>
            <a:ext cx="12801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Runtime asset</a:t>
            </a:r>
            <a:br/>
            <a:r>
              <a:rPr sz="1000" b="0">
                <a:solidFill>
                  <a:srgbClr val="B1B7A9"/>
                </a:solidFill>
                <a:latin typeface="Noto Sans CJK SC"/>
              </a:rPr>
              <a:t>进入 Session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681728"/>
            <a:ext cx="52120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882896"/>
            <a:ext cx="11887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4B1A3"/>
                </a:solidFill>
                <a:latin typeface="Noto Sans CJK SC"/>
              </a:rPr>
              <a:t>模型边界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321808"/>
            <a:ext cx="52120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3EFDE"/>
                </a:solidFill>
                <a:latin typeface="Noto Sans CJK SC"/>
              </a:rPr>
              <a:t>Provider 只提交候选，不直接改写世界状态。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81728"/>
            <a:ext cx="5257800" cy="3200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2896"/>
            <a:ext cx="11887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DA440"/>
                </a:solidFill>
                <a:latin typeface="Noto Sans CJK SC"/>
              </a:rPr>
              <a:t>发布证据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5321808"/>
            <a:ext cx="5257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3EFDE"/>
                </a:solidFill>
                <a:latin typeface="Noto Sans CJK SC"/>
              </a:rPr>
              <a:t>PromotionReport + ActivationReceipt 记录晋升与激活。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04 · 真实运行闭环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不是生成一段描述，而是改写一次可观察的战斗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塔、陷阱与支援道具都完成了从候选到战斗行为的闭环。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7000" y="411480"/>
            <a:ext cx="114300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0" y="480060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1097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975104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运行时行为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975104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可验证证据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359152"/>
            <a:ext cx="6336792" cy="786384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359152"/>
            <a:ext cx="64008" cy="78638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587752"/>
            <a:ext cx="1051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B1A3"/>
                </a:solidFill>
                <a:latin typeface="Noto Sans CJK SC"/>
              </a:rPr>
              <a:t>防御塔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587752"/>
            <a:ext cx="2514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部署 → 索敌 → 伤害 / 连锁 → 结算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523744"/>
            <a:ext cx="1874519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费用、射程、目标数进入行为 ABI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383280"/>
            <a:ext cx="6336792" cy="786384"/>
          </a:xfrm>
          <a:prstGeom prst="rect">
            <a:avLst/>
          </a:prstGeom>
          <a:solidFill>
            <a:srgbClr val="0D1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3383280"/>
            <a:ext cx="64008" cy="78638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611880"/>
            <a:ext cx="1051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DA440"/>
                </a:solidFill>
                <a:latin typeface="Noto Sans CJK SC"/>
              </a:rPr>
              <a:t>陷阱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11880"/>
            <a:ext cx="2514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部署 → 触发 → 范围伤害 / 减速 → 失效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3547872"/>
            <a:ext cx="1874519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触发窗口、作用半径、生命周期可模拟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407408"/>
            <a:ext cx="6336792" cy="786384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4407408"/>
            <a:ext cx="64008" cy="786384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636008"/>
            <a:ext cx="1051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C5F4F"/>
                </a:solidFill>
                <a:latin typeface="Noto Sans CJK SC"/>
              </a:rPr>
              <a:t>支援道具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636008"/>
            <a:ext cx="2514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选点 → 释放 → 范围效果 → 冷却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572000"/>
            <a:ext cx="1874519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落点、费用、范围与冷却进入运行时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8060" y="1915668"/>
            <a:ext cx="4206240" cy="3794759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in_battle.png"/>
          <p:cNvPicPr>
            <a:picLocks noChangeAspect="1"/>
          </p:cNvPicPr>
          <p:nvPr/>
        </p:nvPicPr>
        <p:blipFill>
          <a:blip r:embed="rId2"/>
          <a:srcRect l="15320" r="15320"/>
          <a:stretch>
            <a:fillRect/>
          </a:stretch>
        </p:blipFill>
        <p:spPr>
          <a:xfrm>
            <a:off x="7360920" y="1938528"/>
            <a:ext cx="4160520" cy="3749039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571231" y="5138928"/>
            <a:ext cx="1508760" cy="329184"/>
          </a:xfrm>
          <a:prstGeom prst="roundRect">
            <a:avLst/>
          </a:prstGeom>
          <a:solidFill>
            <a:srgbClr val="361F1C"/>
          </a:solidFill>
          <a:ln>
            <a:solidFill>
              <a:srgbClr val="CC5F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71231" y="5207508"/>
            <a:ext cx="1508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C5F4F"/>
                </a:solidFill>
                <a:latin typeface="Noto Sans CJK SC"/>
              </a:rPr>
              <a:t>RUNTIME BATTLE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788152"/>
            <a:ext cx="64008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候选只有穿过校验、模拟与晋升，才会成为当前 Session 的玩法资产。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05 · Provider 与安全降级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多 Provider，不把不确定性传给玩家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模型可以替换、失败或返回不合规候选；统一质量门与安全 fallback 保持玩法可用。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287000" y="411480"/>
            <a:ext cx="114300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87000" y="480060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01952"/>
            <a:ext cx="10808208" cy="1325880"/>
          </a:xfrm>
          <a:prstGeom prst="rect">
            <a:avLst/>
          </a:prstGeom>
          <a:solidFill>
            <a:srgbClr val="0D1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34747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4B1A3"/>
                </a:solidFill>
                <a:latin typeface="Noto Sans CJK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玩家意图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52374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212848"/>
            <a:ext cx="34747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DA440"/>
                </a:solidFill>
                <a:latin typeface="Noto Sans CJK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578608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多 Provider 路由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52374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7216" y="2212848"/>
            <a:ext cx="34747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C5F4F"/>
                </a:solidFill>
                <a:latin typeface="Noto Sans CJK S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2578608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结构化候选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252374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8623" y="2212848"/>
            <a:ext cx="34747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4B1A3"/>
                </a:solidFill>
                <a:latin typeface="Noto Sans CJK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623" y="2578608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统一质量门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52374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2212848"/>
            <a:ext cx="34747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DA440"/>
                </a:solidFill>
                <a:latin typeface="Noto Sans CJK SC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2578608"/>
            <a:ext cx="1691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3EFDE"/>
                </a:solidFill>
                <a:latin typeface="Noto Sans CJK SC"/>
              </a:rPr>
              <a:t>Session / fallback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840480"/>
            <a:ext cx="24688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14800"/>
            <a:ext cx="24688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4B1A3"/>
                </a:solidFill>
                <a:latin typeface="Noto Sans CJK SC"/>
              </a:rPr>
              <a:t>输出边界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681728"/>
            <a:ext cx="246888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Schema / 语义校验 / 白名单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56432" y="3840480"/>
            <a:ext cx="2468880" cy="3200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4114800"/>
            <a:ext cx="24688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DA440"/>
                </a:solidFill>
                <a:latin typeface="Noto Sans CJK SC"/>
              </a:rPr>
              <a:t>执行边界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4681728"/>
            <a:ext cx="246888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确定性模拟 / 预算 / 晋升门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3840480"/>
            <a:ext cx="2468880" cy="32004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7064" y="4114800"/>
            <a:ext cx="24688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C5F4F"/>
                </a:solidFill>
                <a:latin typeface="Noto Sans CJK SC"/>
              </a:rPr>
              <a:t>状态边界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7064" y="4681728"/>
            <a:ext cx="246888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Session 隔离 / 激活回执 / 可回退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7696" y="3840480"/>
            <a:ext cx="24688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97696" y="4114800"/>
            <a:ext cx="24688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44B1A3"/>
                </a:solidFill>
                <a:latin typeface="Noto Sans CJK SC"/>
              </a:rPr>
              <a:t>降级边界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97696" y="4681728"/>
            <a:ext cx="246888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1B7A9"/>
                </a:solidFill>
                <a:latin typeface="Noto Sans CJK SC"/>
              </a:rPr>
              <a:t>候选不可用 → 安全 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5715000"/>
            <a:ext cx="964692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3EFDE"/>
                </a:solidFill>
                <a:latin typeface="Noto Sans CJK SC"/>
              </a:rPr>
              <a:t>Provider 负责提出可能性；Compiler 负责决定什么能进入游戏。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06 · 地图编译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地图结构闭环，视觉仍用 reviewed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逻辑事实与视觉表现分离：路线、塔位、出生点和目标不由一张生成图反推。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411480"/>
            <a:ext cx="164592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92440" y="480060"/>
            <a:ext cx="16459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结构管线 · 已实现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93808" y="411480"/>
            <a:ext cx="1627632" cy="329184"/>
          </a:xfrm>
          <a:prstGeom prst="roundRect">
            <a:avLst/>
          </a:prstGeom>
          <a:solidFill>
            <a:srgbClr val="3C301A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93808" y="480060"/>
            <a:ext cx="162763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DA440"/>
                </a:solidFill>
                <a:latin typeface="Noto Sans CJK SC"/>
              </a:rPr>
              <a:t>当前视觉 · FALLBACK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19" y="1879092"/>
            <a:ext cx="5120640" cy="4142232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in_map.png"/>
          <p:cNvPicPr>
            <a:picLocks noChangeAspect="1"/>
          </p:cNvPicPr>
          <p:nvPr/>
        </p:nvPicPr>
        <p:blipFill>
          <a:blip r:embed="rId2"/>
          <a:srcRect l="11286" r="11286"/>
          <a:stretch>
            <a:fillRect/>
          </a:stretch>
        </p:blipFill>
        <p:spPr>
          <a:xfrm>
            <a:off x="640080" y="1901952"/>
            <a:ext cx="5074920" cy="40965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44768" y="1901952"/>
            <a:ext cx="5376672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066544"/>
            <a:ext cx="5376672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STRUCTURE / 已实现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395728"/>
            <a:ext cx="5376672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地图分层编译闭环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944368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26080"/>
            <a:ext cx="20116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3EFDE"/>
                </a:solidFill>
                <a:latin typeface="Noto Sans CJK SC"/>
              </a:rPr>
              <a:t>LogicMapIR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2926080"/>
            <a:ext cx="26974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拓扑、路径、部署槽位、出生点与目标可测试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474720"/>
            <a:ext cx="4800600" cy="32004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3785616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767328"/>
            <a:ext cx="20116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3EFDE"/>
                </a:solidFill>
                <a:latin typeface="Noto Sans CJK SC"/>
              </a:rPr>
              <a:t>VisualMaterialPack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767328"/>
            <a:ext cx="26974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材质候选与逻辑坐标解耦，保留审查入口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4315968"/>
            <a:ext cx="4800600" cy="32004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4626864"/>
            <a:ext cx="41148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5F4F"/>
                </a:solidFill>
                <a:latin typeface="Noto Sans CJK S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4608576"/>
            <a:ext cx="20116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3EFDE"/>
                </a:solidFill>
                <a:latin typeface="Noto Sans CJK SC"/>
              </a:rPr>
              <a:t>MapVisualRuntimePackage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4608576"/>
            <a:ext cx="26974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1B7A9"/>
                </a:solidFill>
                <a:latin typeface="Noto Sans CJK SC"/>
              </a:rPr>
              <a:t>确定性合成、运行时高亮与 fallback 契约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5413248"/>
            <a:ext cx="5376672" cy="585216"/>
          </a:xfrm>
          <a:prstGeom prst="rect">
            <a:avLst/>
          </a:prstGeom>
          <a:solidFill>
            <a:srgbClr val="3C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5577840"/>
            <a:ext cx="9601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边界说明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5550408"/>
            <a:ext cx="3749039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3EFDE"/>
                </a:solidFill>
                <a:latin typeface="Noto Sans CJK SC"/>
              </a:rPr>
              <a:t>当前可玩地图视觉仍使用 reviewed fallback，不把候选视觉表述为已发布成果。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07 · 三个编译世界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同一套 Compiler，进入三条完整页面链路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仙侠、西幻与科幻拥有各自的世界书、开场、战略地图、工坊上下文与首关。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21240" y="411480"/>
            <a:ext cx="155448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4800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 · 3 WORLDS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19" y="1879092"/>
            <a:ext cx="3429000" cy="3429000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xianxia_map.png"/>
          <p:cNvPicPr>
            <a:picLocks noChangeAspect="1"/>
          </p:cNvPicPr>
          <p:nvPr/>
        </p:nvPicPr>
        <p:blipFill>
          <a:blip r:embed="rId2"/>
          <a:srcRect l="21875" r="21875"/>
          <a:stretch>
            <a:fillRect/>
          </a:stretch>
        </p:blipFill>
        <p:spPr>
          <a:xfrm>
            <a:off x="640080" y="1901952"/>
            <a:ext cx="3383280" cy="3383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5468112"/>
            <a:ext cx="33832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96128"/>
            <a:ext cx="3383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44B1A3"/>
                </a:solidFill>
                <a:latin typeface="Noto Sans CJK SC"/>
              </a:rPr>
              <a:t>云海断峰关 · 仙侠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3383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1B7A9"/>
                </a:solidFill>
                <a:latin typeface="Noto Sans CJK SC"/>
              </a:rPr>
              <a:t>灵脉为路，符阵为城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4548" y="1879092"/>
            <a:ext cx="3429000" cy="3429000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estern_map.png"/>
          <p:cNvPicPr>
            <a:picLocks noChangeAspect="1"/>
          </p:cNvPicPr>
          <p:nvPr/>
        </p:nvPicPr>
        <p:blipFill>
          <a:blip r:embed="rId3"/>
          <a:srcRect l="21875" r="21875"/>
          <a:stretch>
            <a:fillRect/>
          </a:stretch>
        </p:blipFill>
        <p:spPr>
          <a:xfrm>
            <a:off x="4407408" y="1901952"/>
            <a:ext cx="3383280" cy="33832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407408" y="5468112"/>
            <a:ext cx="3383280" cy="3200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5596128"/>
            <a:ext cx="3383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DDA440"/>
                </a:solidFill>
                <a:latin typeface="Noto Sans CJK SC"/>
              </a:rPr>
              <a:t>石风边境领 · 西幻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5943600"/>
            <a:ext cx="3383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1B7A9"/>
                </a:solidFill>
                <a:latin typeface="Noto Sans CJK SC"/>
              </a:rPr>
              <a:t>沼泽荒原上的最后堡垒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1875" y="1879092"/>
            <a:ext cx="3429000" cy="3429000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ifi_map.png"/>
          <p:cNvPicPr>
            <a:picLocks noChangeAspect="1"/>
          </p:cNvPicPr>
          <p:nvPr/>
        </p:nvPicPr>
        <p:blipFill>
          <a:blip r:embed="rId4"/>
          <a:srcRect l="21875" r="21875"/>
          <a:stretch>
            <a:fillRect/>
          </a:stretch>
        </p:blipFill>
        <p:spPr>
          <a:xfrm>
            <a:off x="8174736" y="1901952"/>
            <a:ext cx="3383280" cy="338328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174736" y="5468112"/>
            <a:ext cx="3383280" cy="32004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5596128"/>
            <a:ext cx="3383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CC5F4F"/>
                </a:solidFill>
                <a:latin typeface="Noto Sans CJK SC"/>
              </a:rPr>
              <a:t>星锚轨道站 · 科幻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943600"/>
            <a:ext cx="3383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1B7A9"/>
                </a:solidFill>
                <a:latin typeface="Noto Sans CJK SC"/>
              </a:rPr>
              <a:t>轨道设施的模块化防线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6236208"/>
            <a:ext cx="67208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F3EFDE"/>
                </a:solidFill>
                <a:latin typeface="Noto Sans CJK SC"/>
              </a:rPr>
              <a:t>共同链路：世界书 → 开场 → 战略地图 → 工坊 → 首关战斗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08 · AI 协作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工具参与生产，质量门决定发布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代码、结构化玩法候选和视觉候选来自不同工具；任何模型输出都不直接成为交付结果。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901952"/>
            <a:ext cx="24688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66544"/>
            <a:ext cx="24688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TOOL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95728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EFDE"/>
                </a:solidFill>
                <a:latin typeface="Noto Sans CJK SC"/>
              </a:rPr>
              <a:t>CodeBuddy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08960"/>
            <a:ext cx="24688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实现、重构</a:t>
            </a:r>
            <a:br/>
            <a:r>
              <a:rPr sz="1300" b="0">
                <a:solidFill>
                  <a:srgbClr val="B1B7A9"/>
                </a:solidFill>
                <a:latin typeface="Noto Sans CJK SC"/>
              </a:rPr>
              <a:t>与代码审查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1901952"/>
            <a:ext cx="2468880" cy="32004"/>
          </a:xfrm>
          <a:prstGeom prst="rect">
            <a:avLst/>
          </a:prstGeom>
          <a:solidFill>
            <a:srgbClr val="DDA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2066544"/>
            <a:ext cx="24688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TOOL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395728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EFDE"/>
                </a:solidFill>
                <a:latin typeface="Noto Sans CJK SC"/>
              </a:rPr>
              <a:t>Codex / OpenCode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3108960"/>
            <a:ext cx="24688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架构、编排</a:t>
            </a:r>
            <a:br/>
            <a:r>
              <a:rPr sz="1300" b="0">
                <a:solidFill>
                  <a:srgbClr val="B1B7A9"/>
                </a:solidFill>
                <a:latin typeface="Noto Sans CJK SC"/>
              </a:rPr>
              <a:t>与集成验收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1901952"/>
            <a:ext cx="2468880" cy="32004"/>
          </a:xfrm>
          <a:prstGeom prst="rect">
            <a:avLst/>
          </a:prstGeom>
          <a:solidFill>
            <a:srgbClr val="CC5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2066544"/>
            <a:ext cx="24688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CC5F4F"/>
                </a:solidFill>
                <a:latin typeface="Noto Sans CJK SC"/>
              </a:rPr>
              <a:t>TOOL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2395728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EFDE"/>
                </a:solidFill>
                <a:latin typeface="Noto Sans CJK SC"/>
              </a:rPr>
              <a:t>DeepSeek / GLM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3108960"/>
            <a:ext cx="24688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结构化玩法候选</a:t>
            </a:r>
            <a:br/>
            <a:r>
              <a:rPr sz="1300" b="0">
                <a:solidFill>
                  <a:srgbClr val="B1B7A9"/>
                </a:solidFill>
                <a:latin typeface="Noto Sans CJK SC"/>
              </a:rPr>
              <a:t>与 Provider 协作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7696" y="1901952"/>
            <a:ext cx="2468880" cy="32004"/>
          </a:xfrm>
          <a:prstGeom prst="rect">
            <a:avLst/>
          </a:prstGeom>
          <a:solidFill>
            <a:srgbClr val="44B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2066544"/>
            <a:ext cx="24688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44B1A3"/>
                </a:solidFill>
                <a:latin typeface="Noto Sans CJK SC"/>
              </a:rPr>
              <a:t>TOOL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395728"/>
            <a:ext cx="246888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EFDE"/>
                </a:solidFill>
                <a:latin typeface="Noto Sans CJK SC"/>
              </a:rPr>
              <a:t>Agnes / OpenAI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3108960"/>
            <a:ext cx="24688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1B7A9"/>
                </a:solidFill>
                <a:latin typeface="Noto Sans CJK SC"/>
              </a:rPr>
              <a:t>图像模型：视觉候选</a:t>
            </a:r>
            <a:br/>
            <a:r>
              <a:rPr sz="1300" b="0">
                <a:solidFill>
                  <a:srgbClr val="B1B7A9"/>
                </a:solidFill>
                <a:latin typeface="Noto Sans CJK SC"/>
              </a:rPr>
              <a:t>与风格探索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343400"/>
            <a:ext cx="10808208" cy="1353312"/>
          </a:xfrm>
          <a:prstGeom prst="rect">
            <a:avLst/>
          </a:prstGeom>
          <a:solidFill>
            <a:srgbClr val="0D1E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617720"/>
            <a:ext cx="13258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DDA440"/>
                </a:solidFill>
                <a:latin typeface="Noto Sans CJK SC"/>
              </a:rPr>
              <a:t>QUALITY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983480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Schema / 语义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56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983480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模拟 / 晋升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4956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983480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多模态审查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956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983480"/>
            <a:ext cx="12344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自动测试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956048"/>
            <a:ext cx="3200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1B7A9"/>
                </a:solidFill>
                <a:latin typeface="Noto Sans CJK SC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983480"/>
            <a:ext cx="13258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3EFDE"/>
                </a:solidFill>
                <a:latin typeface="Noto Sans CJK SC"/>
              </a:rPr>
              <a:t>人工终审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943600"/>
            <a:ext cx="1037844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1B7A9"/>
                </a:solidFill>
                <a:latin typeface="Noto Sans CJK SC"/>
              </a:rPr>
              <a:t>统一验收对象：代码、Runtime package、发布证据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DA440"/>
                </a:solidFill>
                <a:latin typeface="Noto Sans CJK SC"/>
              </a:rPr>
              <a:t>09 · NOW /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94944"/>
            <a:ext cx="10881360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3EFDE"/>
                </a:solidFill>
                <a:latin typeface="Noto Sans CJK SC"/>
              </a:rPr>
              <a:t>已经发生的，与接下来要发生的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60704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1B7A9"/>
                </a:solidFill>
                <a:latin typeface="Noto Sans CJK SC"/>
              </a:rPr>
              <a:t>本次 Demo 只把经过运行链路验证的能力标为“已实现”；长期世界演化明确属于后续规划。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349240" cy="4325112"/>
          </a:xfrm>
          <a:prstGeom prst="rect">
            <a:avLst/>
          </a:prstGeom>
          <a:solidFill>
            <a:srgbClr val="143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1280160" cy="329184"/>
          </a:xfrm>
          <a:prstGeom prst="roundRect">
            <a:avLst/>
          </a:prstGeom>
          <a:solidFill>
            <a:srgbClr val="0D1E1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17420"/>
            <a:ext cx="12801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已实现 ·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45262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当前可验证能力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10128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319272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3EFDE"/>
                </a:solidFill>
                <a:latin typeface="Noto Sans CJK SC"/>
              </a:rPr>
              <a:t>自然语言意图 → 结构化解析 → 校验 → 模拟 → 晋升激活 →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840480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849624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3EFDE"/>
                </a:solidFill>
                <a:latin typeface="Noto Sans CJK SC"/>
              </a:rPr>
              <a:t>塔 / 陷阱 / 支援道具均有可观察的行为闭环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370832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379976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3EFDE"/>
                </a:solidFill>
                <a:latin typeface="Noto Sans CJK SC"/>
              </a:rPr>
              <a:t>仙侠 / 西幻 / 科幻均可进入完整页面链路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01183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910327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3EFDE"/>
                </a:solidFill>
                <a:latin typeface="Noto Sans CJK SC"/>
              </a:rPr>
              <a:t>多 Provider 路由与安全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431536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440679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3EFDE"/>
                </a:solidFill>
                <a:latin typeface="Noto Sans CJK SC"/>
              </a:rPr>
              <a:t>地图分层编译已有结构闭环；当前视觉为 reviewed fallback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5349240" cy="4325112"/>
          </a:xfrm>
          <a:prstGeom prst="rect">
            <a:avLst/>
          </a:prstGeom>
          <a:solidFill>
            <a:srgbClr val="3C3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55664" y="2148840"/>
            <a:ext cx="1508760" cy="329184"/>
          </a:xfrm>
          <a:prstGeom prst="roundRect">
            <a:avLst/>
          </a:prstGeom>
          <a:solidFill>
            <a:srgbClr val="121914"/>
          </a:solidFill>
          <a:ln>
            <a:solidFill>
              <a:srgbClr val="DDA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217420"/>
            <a:ext cx="15087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DA440"/>
                </a:solidFill>
                <a:latin typeface="Noto Sans CJK SC"/>
              </a:rPr>
              <a:t>后续规划 · 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670048"/>
            <a:ext cx="45262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3EFDE"/>
                </a:solidFill>
                <a:latin typeface="Noto Sans CJK SC"/>
              </a:rPr>
              <a:t>不作为本次 Demo 成果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3310128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3" y="3319272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EFDE"/>
                </a:solidFill>
                <a:latin typeface="Noto Sans CJK SC"/>
              </a:rPr>
              <a:t>更深剧情：长期角色关系与分支叙事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950208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3959352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EFDE"/>
                </a:solidFill>
                <a:latin typeface="Noto Sans CJK SC"/>
              </a:rPr>
              <a:t>任务系统：可编译目标、奖励与状态变化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590288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9983" y="4599431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EFDE"/>
                </a:solidFill>
                <a:latin typeface="Noto Sans CJK SC"/>
              </a:rPr>
              <a:t>随机事件：在预算与世界规则内生成局势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5230368"/>
            <a:ext cx="21945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DA440"/>
                </a:solidFill>
                <a:latin typeface="Noto Sans CJK S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3" y="5239512"/>
            <a:ext cx="446227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EFDE"/>
                </a:solidFill>
                <a:latin typeface="Noto Sans CJK SC"/>
              </a:rPr>
              <a:t>世界持续生长：跨局演化、记忆与长期进度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5664" y="5715000"/>
            <a:ext cx="4617720" cy="329184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5788152"/>
            <a:ext cx="42519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DDA440"/>
                </a:solidFill>
                <a:latin typeface="Noto Sans CJK SC"/>
              </a:rPr>
              <a:t>路线图，尚未标记为已实现。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73952" y="0"/>
            <a:ext cx="5717743" cy="6858000"/>
          </a:xfrm>
          <a:prstGeom prst="rect">
            <a:avLst/>
          </a:prstGeom>
          <a:solidFill>
            <a:srgbClr val="121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in_battle.png"/>
          <p:cNvPicPr>
            <a:picLocks noChangeAspect="1"/>
          </p:cNvPicPr>
          <p:nvPr/>
        </p:nvPicPr>
        <p:blipFill>
          <a:blip r:embed="rId2"/>
          <a:srcRect l="24029" r="24029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9808" y="859536"/>
            <a:ext cx="1371600" cy="329184"/>
          </a:xfrm>
          <a:prstGeom prst="roundRect">
            <a:avLst/>
          </a:prstGeom>
          <a:solidFill>
            <a:srgbClr val="14312C"/>
          </a:solidFill>
          <a:ln>
            <a:solidFill>
              <a:srgbClr val="44B1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928115"/>
            <a:ext cx="13716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44B1A3"/>
                </a:solidFill>
                <a:latin typeface="Noto Sans CJK SC"/>
              </a:rPr>
              <a:t>VIBE PLAYING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34924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700" b="1">
                <a:solidFill>
                  <a:srgbClr val="F3EFDE"/>
                </a:solidFill>
                <a:latin typeface="Noto Sans CJK SC"/>
              </a:rPr>
              <a:t>从 Vibe Coding</a:t>
            </a:r>
            <a:br/>
            <a:r>
              <a:rPr sz="3700" b="1">
                <a:solidFill>
                  <a:srgbClr val="F3EFDE"/>
                </a:solidFill>
                <a:latin typeface="Noto Sans CJK SC"/>
              </a:rPr>
              <a:t>到 Vibe Playing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273552"/>
            <a:ext cx="5349240" cy="1143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DDA440"/>
                </a:solidFill>
                <a:latin typeface="Noto Sans CJK SC"/>
              </a:rPr>
              <a:t>AI 原生游戏不只生成内容，</a:t>
            </a:r>
            <a:br/>
            <a:r>
              <a:rPr sz="1700" b="1">
                <a:solidFill>
                  <a:srgbClr val="DDA440"/>
                </a:solidFill>
                <a:latin typeface="Noto Sans CJK SC"/>
              </a:rPr>
              <a:t>它把玩家意图变为可验证、可执行、可回退的玩法。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4846320"/>
            <a:ext cx="4892040" cy="32004"/>
          </a:xfrm>
          <a:prstGeom prst="rect">
            <a:avLst/>
          </a:prstGeom>
          <a:solidFill>
            <a:srgbClr val="B1B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138928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1B7A9"/>
                </a:solidFill>
                <a:latin typeface="Noto Sans CJK SC"/>
              </a:rPr>
              <a:t>结构化解析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5138928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1B7A9"/>
                </a:solidFill>
                <a:latin typeface="Noto Sans CJK SC"/>
              </a:rPr>
              <a:t>校验与模拟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5138928"/>
            <a:ext cx="1417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1B7A9"/>
                </a:solidFill>
                <a:latin typeface="Noto Sans CJK SC"/>
              </a:rPr>
              <a:t>Session 激活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916168"/>
            <a:ext cx="2743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B1A3"/>
                </a:solidFill>
                <a:latin typeface="Noto Sans CJK SC"/>
              </a:rPr>
              <a:t>TEAM COMPILER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565392"/>
            <a:ext cx="5029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B1B7A9"/>
                </a:solidFill>
                <a:latin typeface="Noto Sans CJK SC"/>
              </a:rPr>
              <a:t>Compiler · Tencent Cloud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6547104"/>
            <a:ext cx="4572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DDA440"/>
                </a:solidFill>
                <a:latin typeface="Noto Sans CJK SC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