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mpiler_project_poster_16x9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50292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DA440"/>
                </a:solidFill>
                <a:latin typeface="Noto Sans CJK SC"/>
              </a:rPr>
              <a:t>01 · 项目命题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94944"/>
            <a:ext cx="10881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3EFDE"/>
                </a:solidFill>
                <a:latin typeface="Noto Sans CJK SC"/>
              </a:rPr>
              <a:t>自由想象，需要一个可执行的桥梁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607040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1B7A9"/>
                </a:solidFill>
                <a:latin typeface="Noto Sans CJK SC"/>
              </a:rPr>
              <a:t>我们把 AI 辅助编程的“自然语言 → 结构化产物 → 可运行结果”带入塔防游戏。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474720" cy="3566160"/>
          </a:xfrm>
          <a:prstGeom prst="roundRect">
            <a:avLst/>
          </a:prstGeom>
          <a:solidFill>
            <a:srgbClr val="121914"/>
          </a:solidFill>
          <a:ln>
            <a:solidFill>
              <a:srgbClr val="44B1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67128"/>
            <a:ext cx="3017520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3EFDE"/>
                </a:solidFill>
                <a:latin typeface="Noto Sans CJK SC"/>
              </a:rPr>
              <a:t>玩家想要什么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24328"/>
            <a:ext cx="3017520" cy="27614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B1B7A9"/>
                </a:solidFill>
                <a:latin typeface="Noto Sans CJK SC"/>
              </a:rPr>
              <a:t>像沙盒一样自由提出构想；</a:t>
            </a:r>
            <a:br/>
            <a:r>
              <a:t>每次游玩产生独特内容；</a:t>
            </a:r>
            <a:br/>
            <a:r>
              <a:t>AI 深入世界、剧情与玩法，而不是停留在聊天层。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965960"/>
            <a:ext cx="3474720" cy="3566160"/>
          </a:xfrm>
          <a:prstGeom prst="roundRect">
            <a:avLst/>
          </a:prstGeom>
          <a:solidFill>
            <a:srgbClr val="121914"/>
          </a:solidFill>
          <a:ln>
            <a:solidFill>
              <a:srgbClr val="DDA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67128"/>
            <a:ext cx="3017520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3EFDE"/>
                </a:solidFill>
                <a:latin typeface="Noto Sans CJK SC"/>
              </a:rPr>
              <a:t>塔防需要什么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624328"/>
            <a:ext cx="3017520" cy="27614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B1B7A9"/>
                </a:solidFill>
                <a:latin typeface="Noto Sans CJK SC"/>
              </a:rPr>
              <a:t>行为可预测；</a:t>
            </a:r>
            <a:br/>
            <a:r>
              <a:t>数值可平衡；</a:t>
            </a:r>
            <a:br/>
            <a:r>
              <a:t>部署、射程、伤害和结算必须真实执行；</a:t>
            </a:r>
            <a:br/>
            <a:r>
              <a:t>失败不能破坏整局体验。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965960"/>
            <a:ext cx="3474720" cy="3566160"/>
          </a:xfrm>
          <a:prstGeom prst="roundRect">
            <a:avLst/>
          </a:prstGeom>
          <a:solidFill>
            <a:srgbClr val="121914"/>
          </a:solidFill>
          <a:ln>
            <a:solidFill>
              <a:srgbClr val="CC5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2167128"/>
            <a:ext cx="3017520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3EFDE"/>
                </a:solidFill>
                <a:latin typeface="Noto Sans CJK SC"/>
              </a:rPr>
              <a:t>Compiler 的答案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624328"/>
            <a:ext cx="3017520" cy="27614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B1B7A9"/>
                </a:solidFill>
                <a:latin typeface="Noto Sans CJK SC"/>
              </a:rPr>
              <a:t>玩家输入可以自由，底层执行必须受控。</a:t>
            </a:r>
            <a:br/>
            <a:r>
              <a:t>LLM 负责理解与提案，编译管线负责校验、模拟、晋升、激活和回滚。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565392"/>
            <a:ext cx="5029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B1B7A9"/>
                </a:solidFill>
                <a:latin typeface="Noto Sans CJK SC"/>
              </a:rPr>
              <a:t>Compiler · Tencent Cloud Hackathon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0" y="6547104"/>
            <a:ext cx="4572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DDA440"/>
                </a:solidFill>
                <a:latin typeface="Noto Sans CJK S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50292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DA440"/>
                </a:solidFill>
                <a:latin typeface="Noto Sans CJK SC"/>
              </a:rPr>
              <a:t>02 · 玩家体验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94944"/>
            <a:ext cx="10881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3EFDE"/>
                </a:solidFill>
                <a:latin typeface="Noto Sans CJK SC"/>
              </a:rPr>
              <a:t>从世界书到战场中的新能力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607040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1B7A9"/>
                </a:solidFill>
                <a:latin typeface="Noto Sans CJK SC"/>
              </a:rPr>
              <a:t>玩家只看见符合世界观的工坊、研发与样品交付，技术细节留在证据层。</a:t>
            </a:r>
          </a:p>
        </p:txBody>
      </p:sp>
      <p:pic>
        <p:nvPicPr>
          <p:cNvPr id="5" name="Picture 4" descr="main_map.png"/>
          <p:cNvPicPr>
            <a:picLocks noChangeAspect="1"/>
          </p:cNvPicPr>
          <p:nvPr/>
        </p:nvPicPr>
        <p:blipFill>
          <a:blip r:embed="rId2"/>
          <a:srcRect l="22184" r="22184"/>
          <a:stretch>
            <a:fillRect/>
          </a:stretch>
        </p:blipFill>
        <p:spPr>
          <a:xfrm>
            <a:off x="640080" y="1828800"/>
            <a:ext cx="3703320" cy="4160520"/>
          </a:xfrm>
          <a:prstGeom prst="rect">
            <a:avLst/>
          </a:prstGeom>
        </p:spPr>
      </p:pic>
      <p:pic>
        <p:nvPicPr>
          <p:cNvPr id="6" name="Picture 5" descr="main_workshop.png"/>
          <p:cNvPicPr>
            <a:picLocks noChangeAspect="1"/>
          </p:cNvPicPr>
          <p:nvPr/>
        </p:nvPicPr>
        <p:blipFill>
          <a:blip r:embed="rId3"/>
          <a:srcRect l="26305" r="26305"/>
          <a:stretch>
            <a:fillRect/>
          </a:stretch>
        </p:blipFill>
        <p:spPr>
          <a:xfrm>
            <a:off x="4526280" y="1828800"/>
            <a:ext cx="3154680" cy="4160520"/>
          </a:xfrm>
          <a:prstGeom prst="rect">
            <a:avLst/>
          </a:prstGeom>
        </p:spPr>
      </p:pic>
      <p:pic>
        <p:nvPicPr>
          <p:cNvPr id="7" name="Picture 6" descr="main_battle.png"/>
          <p:cNvPicPr>
            <a:picLocks noChangeAspect="1"/>
          </p:cNvPicPr>
          <p:nvPr/>
        </p:nvPicPr>
        <p:blipFill>
          <a:blip r:embed="rId4"/>
          <a:srcRect l="22184" r="22184"/>
          <a:stretch>
            <a:fillRect/>
          </a:stretch>
        </p:blipFill>
        <p:spPr>
          <a:xfrm>
            <a:off x="7863840" y="1828800"/>
            <a:ext cx="3703320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053328"/>
            <a:ext cx="219456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DDA440"/>
                </a:solidFill>
                <a:latin typeface="Noto Sans CJK SC"/>
              </a:rPr>
              <a:t>战略地图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9160" y="6053328"/>
            <a:ext cx="219456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4B1A3"/>
                </a:solidFill>
                <a:latin typeface="Noto Sans CJK SC"/>
              </a:rPr>
              <a:t>自然语言构想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6053328"/>
            <a:ext cx="219456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CC5F4F"/>
                </a:solidFill>
                <a:latin typeface="Noto Sans CJK SC"/>
              </a:rPr>
              <a:t>样品实战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565392"/>
            <a:ext cx="5029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B1B7A9"/>
                </a:solidFill>
                <a:latin typeface="Noto Sans CJK SC"/>
              </a:rPr>
              <a:t>Compiler · Tencent Cloud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547104"/>
            <a:ext cx="4572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DDA440"/>
                </a:solidFill>
                <a:latin typeface="Noto Sans CJK S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50292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DA440"/>
                </a:solidFill>
                <a:latin typeface="Noto Sans CJK SC"/>
              </a:rPr>
              <a:t>03 · AI 编译器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94944"/>
            <a:ext cx="10881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3EFDE"/>
                </a:solidFill>
                <a:latin typeface="Noto Sans CJK SC"/>
              </a:rPr>
              <a:t>DAG 负责执行，受限 React 负责修复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607040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1B7A9"/>
                </a:solidFill>
                <a:latin typeface="Noto Sans CJK SC"/>
              </a:rPr>
              <a:t>任何模型输出都不能直接写入世界状态，也不能向前端注入任意代码。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148840"/>
            <a:ext cx="1627632" cy="2011680"/>
          </a:xfrm>
          <a:prstGeom prst="roundRect">
            <a:avLst/>
          </a:prstGeom>
          <a:solidFill>
            <a:srgbClr val="121914"/>
          </a:solidFill>
          <a:ln>
            <a:solidFill>
              <a:srgbClr val="44B1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50008"/>
            <a:ext cx="1170432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3EFDE"/>
                </a:solidFill>
                <a:latin typeface="Noto Sans CJK SC"/>
              </a:rPr>
              <a:t>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07208"/>
            <a:ext cx="1170432" cy="12070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B1B7A9"/>
                </a:solidFill>
                <a:latin typeface="Noto Sans CJK SC"/>
              </a:rPr>
              <a:t>世界书 / 节点 / 材料 / 敌情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58568" y="2862072"/>
            <a:ext cx="256032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B1B7A9"/>
                </a:solidFill>
                <a:latin typeface="Noto Sans CJK SC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96312" y="2148840"/>
            <a:ext cx="1627632" cy="2011680"/>
          </a:xfrm>
          <a:prstGeom prst="roundRect">
            <a:avLst/>
          </a:prstGeom>
          <a:solidFill>
            <a:srgbClr val="121914"/>
          </a:solidFill>
          <a:ln>
            <a:solidFill>
              <a:srgbClr val="DDA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24912" y="2350008"/>
            <a:ext cx="1170432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3EFDE"/>
                </a:solidFill>
                <a:latin typeface="Noto Sans CJK SC"/>
              </a:rPr>
              <a:t>Candidate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24912" y="2807208"/>
            <a:ext cx="1170432" cy="12070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B1B7A9"/>
                </a:solidFill>
                <a:latin typeface="Noto Sans CJK SC"/>
              </a:rPr>
              <a:t>LLM 结构化候选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2862072"/>
            <a:ext cx="256032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B1B7A9"/>
                </a:solidFill>
                <a:latin typeface="Noto Sans CJK SC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98264" y="2148840"/>
            <a:ext cx="1627632" cy="2011680"/>
          </a:xfrm>
          <a:prstGeom prst="roundRect">
            <a:avLst/>
          </a:prstGeom>
          <a:solidFill>
            <a:srgbClr val="121914"/>
          </a:solidFill>
          <a:ln>
            <a:solidFill>
              <a:srgbClr val="CC5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2350008"/>
            <a:ext cx="1170432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3EFDE"/>
                </a:solidFill>
                <a:latin typeface="Noto Sans CJK SC"/>
              </a:rPr>
              <a:t>Validate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807208"/>
            <a:ext cx="1170432" cy="12070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B1B7A9"/>
                </a:solidFill>
                <a:latin typeface="Noto Sans CJK SC"/>
              </a:rPr>
              <a:t>Schema / 语义 / ABI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62472" y="2862072"/>
            <a:ext cx="256032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B1B7A9"/>
                </a:solidFill>
                <a:latin typeface="Noto Sans CJK SC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0216" y="2148840"/>
            <a:ext cx="1627632" cy="2011680"/>
          </a:xfrm>
          <a:prstGeom prst="roundRect">
            <a:avLst/>
          </a:prstGeom>
          <a:solidFill>
            <a:srgbClr val="121914"/>
          </a:solidFill>
          <a:ln>
            <a:solidFill>
              <a:srgbClr val="44B1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28816" y="2350008"/>
            <a:ext cx="1170432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3EFDE"/>
                </a:solidFill>
                <a:latin typeface="Noto Sans CJK SC"/>
              </a:rPr>
              <a:t>Simulate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28816" y="2807208"/>
            <a:ext cx="1170432" cy="12070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B1B7A9"/>
                </a:solidFill>
                <a:latin typeface="Noto Sans CJK SC"/>
              </a:rPr>
              <a:t>确定性战斗模拟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64424" y="2862072"/>
            <a:ext cx="256032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B1B7A9"/>
                </a:solidFill>
                <a:latin typeface="Noto Sans CJK SC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02168" y="2148840"/>
            <a:ext cx="1627632" cy="2011680"/>
          </a:xfrm>
          <a:prstGeom prst="roundRect">
            <a:avLst/>
          </a:prstGeom>
          <a:solidFill>
            <a:srgbClr val="121914"/>
          </a:solidFill>
          <a:ln>
            <a:solidFill>
              <a:srgbClr val="DDA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30768" y="2350008"/>
            <a:ext cx="1170432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3EFDE"/>
                </a:solidFill>
                <a:latin typeface="Noto Sans CJK SC"/>
              </a:rPr>
              <a:t>Promote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30768" y="2807208"/>
            <a:ext cx="1170432" cy="12070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B1B7A9"/>
                </a:solidFill>
                <a:latin typeface="Noto Sans CJK SC"/>
              </a:rPr>
              <a:t>评分与晋升报告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66376" y="2862072"/>
            <a:ext cx="256032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B1B7A9"/>
                </a:solidFill>
                <a:latin typeface="Noto Sans CJK SC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04120" y="2148840"/>
            <a:ext cx="1627632" cy="2011680"/>
          </a:xfrm>
          <a:prstGeom prst="roundRect">
            <a:avLst/>
          </a:prstGeom>
          <a:solidFill>
            <a:srgbClr val="121914"/>
          </a:solidFill>
          <a:ln>
            <a:solidFill>
              <a:srgbClr val="CC5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332720" y="2350008"/>
            <a:ext cx="1170432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3EFDE"/>
                </a:solidFill>
                <a:latin typeface="Noto Sans CJK SC"/>
              </a:rPr>
              <a:t>Activate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0" y="2807208"/>
            <a:ext cx="1170432" cy="12070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B1B7A9"/>
                </a:solidFill>
                <a:latin typeface="Noto Sans CJK SC"/>
              </a:rPr>
              <a:t>Session 激活回执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892040"/>
            <a:ext cx="10149840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F3EFDE"/>
                </a:solidFill>
                <a:latin typeface="Noto Sans CJK SC"/>
              </a:rPr>
              <a:t>失败只触发局部修复与有限重试；超时或媒体失败时使用审核兜底，不中断玩法。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565392"/>
            <a:ext cx="5029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B1B7A9"/>
                </a:solidFill>
                <a:latin typeface="Noto Sans CJK SC"/>
              </a:rPr>
              <a:t>Compiler · Tencent Cloud Hackathon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64240" y="6547104"/>
            <a:ext cx="4572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DDA440"/>
                </a:solidFill>
                <a:latin typeface="Noto Sans CJK S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50292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DA440"/>
                </a:solidFill>
                <a:latin typeface="Noto Sans CJK SC"/>
              </a:rPr>
              <a:t>04 · 真实运行闭环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94944"/>
            <a:ext cx="10881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3EFDE"/>
                </a:solidFill>
                <a:latin typeface="Noto Sans CJK SC"/>
              </a:rPr>
              <a:t>三类对象，三次 Provider 调用，三次运行时变更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607040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1B7A9"/>
                </a:solidFill>
                <a:latin typeface="Noto Sans CJK SC"/>
              </a:rPr>
              <a:t>2026-07-15 最终烟测：43.32 秒完成候选生成、校验、模拟、晋升、激活与行为验证。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5960"/>
            <a:ext cx="3520440" cy="3337560"/>
          </a:xfrm>
          <a:prstGeom prst="roundRect">
            <a:avLst/>
          </a:prstGeom>
          <a:solidFill>
            <a:srgbClr val="121914"/>
          </a:solidFill>
          <a:ln>
            <a:solidFill>
              <a:srgbClr val="44B1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67128"/>
            <a:ext cx="3063240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3EFDE"/>
                </a:solidFill>
                <a:latin typeface="Noto Sans CJK SC"/>
              </a:rPr>
              <a:t>光幕跳跃塔 · 17.94s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24328"/>
            <a:ext cx="3063240" cy="2532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B1B7A9"/>
                </a:solidFill>
                <a:latin typeface="Noto Sans CJK SC"/>
              </a:rPr>
              <a:t>防御塔</a:t>
            </a:r>
            <a:br/>
            <a:r>
              <a:t>伤害 + 最多三个目标连锁</a:t>
            </a:r>
            <a:br/>
            <a:r>
              <a:t>模型生成名称、费用、射程与目标数</a:t>
            </a:r>
            <a:br/>
            <a:r>
              <a:t>战斗行为由 battle_behavior_abi.v0.1 执行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965960"/>
            <a:ext cx="3520440" cy="3337560"/>
          </a:xfrm>
          <a:prstGeom prst="roundRect">
            <a:avLst/>
          </a:prstGeom>
          <a:solidFill>
            <a:srgbClr val="121914"/>
          </a:solidFill>
          <a:ln>
            <a:solidFill>
              <a:srgbClr val="DDA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67128"/>
            <a:ext cx="3063240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3EFDE"/>
                </a:solidFill>
                <a:latin typeface="Noto Sans CJK SC"/>
              </a:rPr>
              <a:t>折光绊索 · 12.87s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624328"/>
            <a:ext cx="3063240" cy="2532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B1B7A9"/>
                </a:solidFill>
                <a:latin typeface="Noto Sans CJK SC"/>
              </a:rPr>
              <a:t>触发陷阱</a:t>
            </a:r>
            <a:br/>
            <a:r>
              <a:t>一次范围伤害 + 持续减速场</a:t>
            </a:r>
            <a:br/>
            <a:r>
              <a:t>模拟验证触发窗口与作用半径</a:t>
            </a:r>
            <a:br/>
            <a:r>
              <a:t>部署后按生命周期自动失效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965960"/>
            <a:ext cx="3520440" cy="3337560"/>
          </a:xfrm>
          <a:prstGeom prst="roundRect">
            <a:avLst/>
          </a:prstGeom>
          <a:solidFill>
            <a:srgbClr val="121914"/>
          </a:solidFill>
          <a:ln>
            <a:solidFill>
              <a:srgbClr val="CC5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167128"/>
            <a:ext cx="3063240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3EFDE"/>
                </a:solidFill>
                <a:latin typeface="Noto Sans CJK SC"/>
              </a:rPr>
              <a:t>折光迟滞脉冲 · 11.58s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624328"/>
            <a:ext cx="3063240" cy="2532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B1B7A9"/>
                </a:solidFill>
                <a:latin typeface="Noto Sans CJK SC"/>
              </a:rPr>
              <a:t>支援道具</a:t>
            </a:r>
            <a:br/>
            <a:r>
              <a:t>自由落点范围伤害 + 迟滞</a:t>
            </a:r>
            <a:br/>
            <a:r>
              <a:t>冷却、费用和范围进入运行时投影</a:t>
            </a:r>
            <a:br/>
            <a:r>
              <a:t>媒体失败不影响行为晋升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715000"/>
            <a:ext cx="996696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DDA440"/>
                </a:solidFill>
                <a:latin typeface="Noto Sans CJK SC"/>
              </a:rPr>
              <a:t>3 / 3 Provider calls · 3 PromotionReports · 3 ActivationReceipts · 3 gameplay mutations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565392"/>
            <a:ext cx="5029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B1B7A9"/>
                </a:solidFill>
                <a:latin typeface="Noto Sans CJK SC"/>
              </a:rPr>
              <a:t>Compiler · Tencent Cloud Hackathon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547104"/>
            <a:ext cx="4572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DDA440"/>
                </a:solidFill>
                <a:latin typeface="Noto Sans CJK S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50292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DA440"/>
                </a:solidFill>
                <a:latin typeface="Noto Sans CJK SC"/>
              </a:rPr>
              <a:t>05 · 安全与可治理性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94944"/>
            <a:ext cx="10881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3EFDE"/>
                </a:solidFill>
                <a:latin typeface="Noto Sans CJK SC"/>
              </a:rPr>
              <a:t>让 AI 创造，但不让 AI 越权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607040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1B7A9"/>
                </a:solidFill>
                <a:latin typeface="Noto Sans CJK SC"/>
              </a:rPr>
              <a:t>开发者拥有最高权限；玩家运行时只能消费白名单能力和已激活资源。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3429000" cy="1600200"/>
          </a:xfrm>
          <a:prstGeom prst="roundRect">
            <a:avLst/>
          </a:prstGeom>
          <a:solidFill>
            <a:srgbClr val="121914"/>
          </a:solidFill>
          <a:ln>
            <a:solidFill>
              <a:srgbClr val="44B1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75688"/>
            <a:ext cx="2971800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3EFDE"/>
                </a:solidFill>
                <a:latin typeface="Noto Sans CJK SC"/>
              </a:rPr>
              <a:t>结构安全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32887"/>
            <a:ext cx="2971800" cy="7955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B1B7A9"/>
                </a:solidFill>
                <a:latin typeface="Noto Sans CJK SC"/>
              </a:rPr>
              <a:t>Schema、稳定 ID、禁止敏感字段与任意代码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6552" y="1874519"/>
            <a:ext cx="3429000" cy="1600200"/>
          </a:xfrm>
          <a:prstGeom prst="roundRect">
            <a:avLst/>
          </a:prstGeom>
          <a:solidFill>
            <a:srgbClr val="121914"/>
          </a:solidFill>
          <a:ln>
            <a:solidFill>
              <a:srgbClr val="DDA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5152" y="2075688"/>
            <a:ext cx="2971800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3EFDE"/>
                </a:solidFill>
                <a:latin typeface="Noto Sans CJK SC"/>
              </a:rPr>
              <a:t>玩法安全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5152" y="2532887"/>
            <a:ext cx="2971800" cy="7955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B1B7A9"/>
                </a:solidFill>
                <a:latin typeface="Noto Sans CJK SC"/>
              </a:rPr>
              <a:t>效果注册表、数值 clamp、确定性模拟与预算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47304" y="1874519"/>
            <a:ext cx="3429000" cy="1600200"/>
          </a:xfrm>
          <a:prstGeom prst="roundRect">
            <a:avLst/>
          </a:prstGeom>
          <a:solidFill>
            <a:srgbClr val="121914"/>
          </a:solidFill>
          <a:ln>
            <a:solidFill>
              <a:srgbClr val="CC5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4" y="2075688"/>
            <a:ext cx="2971800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3EFDE"/>
                </a:solidFill>
                <a:latin typeface="Noto Sans CJK SC"/>
              </a:rPr>
              <a:t>状态安全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4" y="2532887"/>
            <a:ext cx="2971800" cy="7955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B1B7A9"/>
                </a:solidFill>
                <a:latin typeface="Noto Sans CJK SC"/>
              </a:rPr>
              <a:t>匿名 session 隔离、事务化 world delta、回执与 rollback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886200"/>
            <a:ext cx="3429000" cy="1600200"/>
          </a:xfrm>
          <a:prstGeom prst="roundRect">
            <a:avLst/>
          </a:prstGeom>
          <a:solidFill>
            <a:srgbClr val="121914"/>
          </a:solidFill>
          <a:ln>
            <a:solidFill>
              <a:srgbClr val="44B1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087368"/>
            <a:ext cx="2971800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3EFDE"/>
                </a:solidFill>
                <a:latin typeface="Noto Sans CJK SC"/>
              </a:rPr>
              <a:t>媒体安全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44568"/>
            <a:ext cx="2971800" cy="7955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B1B7A9"/>
                </a:solidFill>
                <a:latin typeface="Noto Sans CJK SC"/>
              </a:rPr>
              <a:t>本地哈希、审查门、临时 URL 不进入运行包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16552" y="3886200"/>
            <a:ext cx="3429000" cy="1600200"/>
          </a:xfrm>
          <a:prstGeom prst="roundRect">
            <a:avLst/>
          </a:prstGeom>
          <a:solidFill>
            <a:srgbClr val="121914"/>
          </a:solidFill>
          <a:ln>
            <a:solidFill>
              <a:srgbClr val="DDA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45152" y="4087368"/>
            <a:ext cx="2971800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3EFDE"/>
                </a:solidFill>
                <a:latin typeface="Noto Sans CJK SC"/>
              </a:rPr>
              <a:t>体验安全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45152" y="4544568"/>
            <a:ext cx="2971800" cy="7955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B1B7A9"/>
                </a:solidFill>
                <a:latin typeface="Noto Sans CJK SC"/>
              </a:rPr>
              <a:t>Provider / rate limit 不暴露给玩家，失败走世界内降级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47304" y="3886200"/>
            <a:ext cx="3429000" cy="1600200"/>
          </a:xfrm>
          <a:prstGeom prst="roundRect">
            <a:avLst/>
          </a:prstGeom>
          <a:solidFill>
            <a:srgbClr val="121914"/>
          </a:solidFill>
          <a:ln>
            <a:solidFill>
              <a:srgbClr val="CC5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5904" y="4087368"/>
            <a:ext cx="2971800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3EFDE"/>
                </a:solidFill>
                <a:latin typeface="Noto Sans CJK SC"/>
              </a:rPr>
              <a:t>证据安全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5904" y="4544568"/>
            <a:ext cx="2971800" cy="7955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B1B7A9"/>
                </a:solidFill>
                <a:latin typeface="Noto Sans CJK SC"/>
              </a:rPr>
              <a:t>只保存脱敏候选、摘要、哈希与必要 provenance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565392"/>
            <a:ext cx="5029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B1B7A9"/>
                </a:solidFill>
                <a:latin typeface="Noto Sans CJK SC"/>
              </a:rPr>
              <a:t>Compiler · Tencent Cloud Hackathon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547104"/>
            <a:ext cx="4572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DDA440"/>
                </a:solidFill>
                <a:latin typeface="Noto Sans CJK S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50292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DA440"/>
                </a:solidFill>
                <a:latin typeface="Noto Sans CJK SC"/>
              </a:rPr>
              <a:t>06 · 地图编译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94944"/>
            <a:ext cx="10881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3EFDE"/>
                </a:solidFill>
                <a:latin typeface="Noto Sans CJK SC"/>
              </a:rPr>
              <a:t>逻辑事实与视觉表现分离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607040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1B7A9"/>
                </a:solidFill>
                <a:latin typeface="Noto Sans CJK SC"/>
              </a:rPr>
              <a:t>路线、塔位、出生点和目标来自 MapRuntimePackage；视觉层不能反向决定玩法。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3337560" cy="3977639"/>
          </a:xfrm>
          <a:prstGeom prst="roundRect">
            <a:avLst/>
          </a:prstGeom>
          <a:solidFill>
            <a:srgbClr val="121914"/>
          </a:solidFill>
          <a:ln>
            <a:solidFill>
              <a:srgbClr val="44B1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75688"/>
            <a:ext cx="2880360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3EFDE"/>
                </a:solidFill>
                <a:latin typeface="Noto Sans CJK SC"/>
              </a:rPr>
              <a:t>LogicMapIR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32887"/>
            <a:ext cx="2880360" cy="31729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B1B7A9"/>
                </a:solidFill>
                <a:latin typeface="Noto Sans CJK SC"/>
              </a:rPr>
              <a:t>冻结拓扑</a:t>
            </a:r>
            <a:br/>
            <a:r>
              <a:t>路径样条与分叉</a:t>
            </a:r>
            <a:br/>
            <a:r>
              <a:t>部署槽位与合法区域</a:t>
            </a:r>
            <a:br/>
            <a:r>
              <a:t>目标、出生点、危险区</a:t>
            </a:r>
            <a:br/>
            <a:r>
              <a:t>所有坐标可测试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874519"/>
            <a:ext cx="3337560" cy="3977639"/>
          </a:xfrm>
          <a:prstGeom prst="roundRect">
            <a:avLst/>
          </a:prstGeom>
          <a:solidFill>
            <a:srgbClr val="121914"/>
          </a:solidFill>
          <a:ln>
            <a:solidFill>
              <a:srgbClr val="DDA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075688"/>
            <a:ext cx="2880360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3EFDE"/>
                </a:solidFill>
                <a:latin typeface="Noto Sans CJK SC"/>
              </a:rPr>
              <a:t>VisualMaterialPack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532887"/>
            <a:ext cx="2880360" cy="31729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B1B7A9"/>
                </a:solidFill>
                <a:latin typeface="Noto Sans CJK SC"/>
              </a:rPr>
              <a:t>低语义地表材质</a:t>
            </a:r>
            <a:br/>
            <a:r>
              <a:t>道路与边缘材质</a:t>
            </a:r>
            <a:br/>
            <a:r>
              <a:t>塔位、目标与装饰组件</a:t>
            </a:r>
            <a:br/>
            <a:r>
              <a:t>AI 候选 + 多模态审查</a:t>
            </a:r>
            <a:br/>
            <a:r>
              <a:t>不从整图反推逻辑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79" y="1874519"/>
            <a:ext cx="3337560" cy="3977639"/>
          </a:xfrm>
          <a:prstGeom prst="roundRect">
            <a:avLst/>
          </a:prstGeom>
          <a:solidFill>
            <a:srgbClr val="121914"/>
          </a:solidFill>
          <a:ln>
            <a:solidFill>
              <a:srgbClr val="CC5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2075688"/>
            <a:ext cx="2880360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3EFDE"/>
                </a:solidFill>
                <a:latin typeface="Noto Sans CJK SC"/>
              </a:rPr>
              <a:t>MapVisualRuntimePackage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532887"/>
            <a:ext cx="2880360" cy="31729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B1B7A9"/>
                </a:solidFill>
                <a:latin typeface="Noto Sans CJK SC"/>
              </a:rPr>
              <a:t>确定性合成与对齐</a:t>
            </a:r>
            <a:br/>
            <a:r>
              <a:t>世界观色调与接触阴影</a:t>
            </a:r>
            <a:br/>
            <a:r>
              <a:t>运行时高亮独立叠加</a:t>
            </a:r>
            <a:br/>
            <a:r>
              <a:t>自动审查 + 人工终审</a:t>
            </a:r>
            <a:br/>
            <a:r>
              <a:t>失败保留可玩 fallback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565392"/>
            <a:ext cx="5029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B1B7A9"/>
                </a:solidFill>
                <a:latin typeface="Noto Sans CJK SC"/>
              </a:rPr>
              <a:t>Compiler · Tencent Cloud Hackathon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0" y="6547104"/>
            <a:ext cx="4572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DDA440"/>
                </a:solidFill>
                <a:latin typeface="Noto Sans CJK S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50292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DA440"/>
                </a:solidFill>
                <a:latin typeface="Noto Sans CJK SC"/>
              </a:rPr>
              <a:t>07 · 同一套 Compiler，多个世界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94944"/>
            <a:ext cx="10881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3EFDE"/>
                </a:solidFill>
                <a:latin typeface="Noto Sans CJK SC"/>
              </a:rPr>
              <a:t>《长夜灯火》只是 MVP 模板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607040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1B7A9"/>
                </a:solidFill>
                <a:latin typeface="Noto Sans CJK SC"/>
              </a:rPr>
              <a:t>仙侠、西幻、科幻拥有独立世界书、身份、开场、战略地图、首关与研发上下文。</a:t>
            </a:r>
          </a:p>
        </p:txBody>
      </p:sp>
      <p:pic>
        <p:nvPicPr>
          <p:cNvPr id="5" name="Picture 4" descr="xianxia_map.png"/>
          <p:cNvPicPr>
            <a:picLocks noChangeAspect="1"/>
          </p:cNvPicPr>
          <p:nvPr/>
        </p:nvPicPr>
        <p:blipFill>
          <a:blip r:embed="rId2"/>
          <a:srcRect l="23085" r="23085"/>
          <a:stretch>
            <a:fillRect/>
          </a:stretch>
        </p:blipFill>
        <p:spPr>
          <a:xfrm>
            <a:off x="640080" y="1828800"/>
            <a:ext cx="3456432" cy="3611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8" y="5559552"/>
            <a:ext cx="3236976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44B1A3"/>
                </a:solidFill>
                <a:latin typeface="Noto Sans CJK SC"/>
              </a:rPr>
              <a:t>云海断峰关 · 仙侠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5925312"/>
            <a:ext cx="3236976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B1B7A9"/>
                </a:solidFill>
                <a:latin typeface="Noto Sans CJK SC"/>
              </a:rPr>
              <a:t>灵脉为路，符阵为城</a:t>
            </a:r>
          </a:p>
        </p:txBody>
      </p:sp>
      <p:pic>
        <p:nvPicPr>
          <p:cNvPr id="8" name="Picture 7" descr="western_map.png"/>
          <p:cNvPicPr>
            <a:picLocks noChangeAspect="1"/>
          </p:cNvPicPr>
          <p:nvPr/>
        </p:nvPicPr>
        <p:blipFill>
          <a:blip r:embed="rId3"/>
          <a:srcRect l="23085" r="23085"/>
          <a:stretch>
            <a:fillRect/>
          </a:stretch>
        </p:blipFill>
        <p:spPr>
          <a:xfrm>
            <a:off x="4462272" y="1828800"/>
            <a:ext cx="3456432" cy="3611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0" y="5559552"/>
            <a:ext cx="3236976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DDA440"/>
                </a:solidFill>
                <a:latin typeface="Noto Sans CJK SC"/>
              </a:rPr>
              <a:t>石风边境领 · 西幻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5925312"/>
            <a:ext cx="3236976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B1B7A9"/>
                </a:solidFill>
                <a:latin typeface="Noto Sans CJK SC"/>
              </a:rPr>
              <a:t>沼泽荒原上的最后堡垒</a:t>
            </a:r>
          </a:p>
        </p:txBody>
      </p:sp>
      <p:pic>
        <p:nvPicPr>
          <p:cNvPr id="11" name="Picture 10" descr="scifi_map.png"/>
          <p:cNvPicPr>
            <a:picLocks noChangeAspect="1"/>
          </p:cNvPicPr>
          <p:nvPr/>
        </p:nvPicPr>
        <p:blipFill>
          <a:blip r:embed="rId4"/>
          <a:srcRect l="23085" r="23085"/>
          <a:stretch>
            <a:fillRect/>
          </a:stretch>
        </p:blipFill>
        <p:spPr>
          <a:xfrm>
            <a:off x="8284463" y="1828800"/>
            <a:ext cx="3456432" cy="3611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94191" y="5559552"/>
            <a:ext cx="3236976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CC5F4F"/>
                </a:solidFill>
                <a:latin typeface="Noto Sans CJK SC"/>
              </a:rPr>
              <a:t>星锚轨道站 · 科幻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4191" y="5925312"/>
            <a:ext cx="3236976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B1B7A9"/>
                </a:solidFill>
                <a:latin typeface="Noto Sans CJK SC"/>
              </a:rPr>
              <a:t>轨道设施的模块化防线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565392"/>
            <a:ext cx="5029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B1B7A9"/>
                </a:solidFill>
                <a:latin typeface="Noto Sans CJK SC"/>
              </a:rPr>
              <a:t>Compiler · Tencent Cloud Hackathon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0" y="6547104"/>
            <a:ext cx="4572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DDA440"/>
                </a:solidFill>
                <a:latin typeface="Noto Sans CJK S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50292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DA440"/>
                </a:solidFill>
                <a:latin typeface="Noto Sans CJK SC"/>
              </a:rPr>
              <a:t>08 · 工程实现与 AI 协作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94944"/>
            <a:ext cx="10881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3EFDE"/>
                </a:solidFill>
                <a:latin typeface="Noto Sans CJK SC"/>
              </a:rPr>
              <a:t>浏览器可玩、可测试、可审计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607040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1B7A9"/>
                </a:solidFill>
                <a:latin typeface="Noto Sans CJK SC"/>
              </a:rPr>
              <a:t>比赛开发过程同样使用多 Agent，但最终代码、运行包和发布证据由统一质量门验收。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3383280" cy="3566160"/>
          </a:xfrm>
          <a:prstGeom prst="roundRect">
            <a:avLst/>
          </a:prstGeom>
          <a:solidFill>
            <a:srgbClr val="121914"/>
          </a:solidFill>
          <a:ln>
            <a:solidFill>
              <a:srgbClr val="44B1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75688"/>
            <a:ext cx="2926080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3EFDE"/>
                </a:solidFill>
                <a:latin typeface="Noto Sans CJK SC"/>
              </a:rPr>
              <a:t>运行架构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32887"/>
            <a:ext cx="2926080" cy="27614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B1B7A9"/>
                </a:solidFill>
                <a:latin typeface="Noto Sans CJK SC"/>
              </a:rPr>
              <a:t>FastAPI + SQLite</a:t>
            </a:r>
            <a:br/>
            <a:r>
              <a:t>原生 ES Modules + Canvas 2D</a:t>
            </a:r>
            <a:br/>
            <a:r>
              <a:t>匿名 session，无复杂登录</a:t>
            </a:r>
            <a:br/>
            <a:r>
              <a:t>后台 research worker 可恢复</a:t>
            </a:r>
            <a:br/>
            <a:r>
              <a:t>单链接浏览器体验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874519"/>
            <a:ext cx="3383280" cy="3566160"/>
          </a:xfrm>
          <a:prstGeom prst="roundRect">
            <a:avLst/>
          </a:prstGeom>
          <a:solidFill>
            <a:srgbClr val="121914"/>
          </a:solidFill>
          <a:ln>
            <a:solidFill>
              <a:srgbClr val="DDA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36008" y="2075688"/>
            <a:ext cx="2926080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3EFDE"/>
                </a:solidFill>
                <a:latin typeface="Noto Sans CJK SC"/>
              </a:rPr>
              <a:t>AI 工具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36008" y="2532887"/>
            <a:ext cx="2926080" cy="27614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B1B7A9"/>
                </a:solidFill>
                <a:latin typeface="Noto Sans CJK SC"/>
              </a:rPr>
              <a:t>CodeBuddy：实现、重构、代码审查</a:t>
            </a:r>
            <a:br/>
            <a:r>
              <a:t>Codex/OpenCode：架构、编排、集成验收</a:t>
            </a:r>
            <a:br/>
            <a:r>
              <a:t>DeepSeek/GLM：结构化内容候选</a:t>
            </a:r>
            <a:br/>
            <a:r>
              <a:t>Agnes：视觉候选</a:t>
            </a:r>
            <a:br/>
            <a:r>
              <a:t>多模态模型：视觉审查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9016" y="1874519"/>
            <a:ext cx="3383280" cy="3566160"/>
          </a:xfrm>
          <a:prstGeom prst="roundRect">
            <a:avLst/>
          </a:prstGeom>
          <a:solidFill>
            <a:srgbClr val="121914"/>
          </a:solidFill>
          <a:ln>
            <a:solidFill>
              <a:srgbClr val="CC5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57616" y="2075688"/>
            <a:ext cx="2926080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3EFDE"/>
                </a:solidFill>
                <a:latin typeface="Noto Sans CJK SC"/>
              </a:rPr>
              <a:t>自动验收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7616" y="2532887"/>
            <a:ext cx="2926080" cy="27614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B1B7A9"/>
                </a:solidFill>
                <a:latin typeface="Noto Sans CJK SC"/>
              </a:rPr>
              <a:t>55 项前端运行时模块测试</a:t>
            </a:r>
            <a:br/>
            <a:r>
              <a:t>105 项相关后端测试</a:t>
            </a:r>
            <a:br/>
            <a:r>
              <a:t>桌面/移动 Chromium 流程</a:t>
            </a:r>
            <a:br/>
            <a:r>
              <a:t>拖拽部署与战斗行为 smoke</a:t>
            </a:r>
            <a:br/>
            <a:r>
              <a:t>Scheduler 28 步证据链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565392"/>
            <a:ext cx="5029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B1B7A9"/>
                </a:solidFill>
                <a:latin typeface="Noto Sans CJK SC"/>
              </a:rPr>
              <a:t>Compiler · Tencent Cloud Hackathon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0" y="6547104"/>
            <a:ext cx="4572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DDA440"/>
                </a:solidFill>
                <a:latin typeface="Noto Sans CJK S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50292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DA440"/>
                </a:solidFill>
                <a:latin typeface="Noto Sans CJK SC"/>
              </a:rPr>
              <a:t>09 · 当前成果与下一步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94944"/>
            <a:ext cx="10881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3EFDE"/>
                </a:solidFill>
                <a:latin typeface="Noto Sans CJK SC"/>
              </a:rPr>
              <a:t>从教学关 Demo 到 AI 编译游戏内容系统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607040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1B7A9"/>
                </a:solidFill>
                <a:latin typeface="Noto Sans CJK SC"/>
              </a:rPr>
              <a:t>黑客松版本优先证明“自由构想可以安全成为玩法”，而不是堆叠固定关卡数量。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5212080" cy="4069080"/>
          </a:xfrm>
          <a:prstGeom prst="roundRect">
            <a:avLst/>
          </a:prstGeom>
          <a:solidFill>
            <a:srgbClr val="121914"/>
          </a:solidFill>
          <a:ln>
            <a:solidFill>
              <a:srgbClr val="44B1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75688"/>
            <a:ext cx="4754880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3EFDE"/>
                </a:solidFill>
                <a:latin typeface="Noto Sans CJK SC"/>
              </a:rPr>
              <a:t>已经真实闭环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32887"/>
            <a:ext cx="4754880" cy="3264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B1B7A9"/>
                </a:solidFill>
                <a:latin typeface="Noto Sans CJK SC"/>
              </a:rPr>
              <a:t>• 塔、陷阱、支援道具：文本候选 → 战斗执行</a:t>
            </a:r>
            <a:br/>
            <a:r>
              <a:t>• 真实 Provider 三对象演示与激活回执</a:t>
            </a:r>
            <a:br/>
            <a:r>
              <a:t>• 世界实例编译与三种题材首战</a:t>
            </a:r>
            <a:br/>
            <a:r>
              <a:t>• 地图逻辑/视觉分层编译工具链</a:t>
            </a:r>
            <a:br/>
            <a:r>
              <a:t>• 完整主线、音频、部署范围与战后状态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874519"/>
            <a:ext cx="5212080" cy="4069080"/>
          </a:xfrm>
          <a:prstGeom prst="roundRect">
            <a:avLst/>
          </a:prstGeom>
          <a:solidFill>
            <a:srgbClr val="121914"/>
          </a:solidFill>
          <a:ln>
            <a:solidFill>
              <a:srgbClr val="DDA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75688"/>
            <a:ext cx="4754880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3EFDE"/>
                </a:solidFill>
                <a:latin typeface="Noto Sans CJK SC"/>
              </a:rPr>
              <a:t>比赛后优先方向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532887"/>
            <a:ext cx="4754880" cy="3264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B1B7A9"/>
                </a:solidFill>
                <a:latin typeface="Noto Sans CJK SC"/>
              </a:rPr>
              <a:t>• 把剧情、任务、随机事件接入同一事务化编译协议</a:t>
            </a:r>
            <a:br/>
            <a:r>
              <a:t>• 扩展召唤、护盾、修复与资源联动 ABI</a:t>
            </a:r>
            <a:br/>
            <a:r>
              <a:t>• 提升视觉材质审查和自动发布通过率</a:t>
            </a:r>
            <a:br/>
            <a:r>
              <a:t>• 后台预生成、缓存与跨节点调度</a:t>
            </a:r>
            <a:br/>
            <a:r>
              <a:t>• 让世界演化始终服务玩法和进度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565392"/>
            <a:ext cx="5029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B1B7A9"/>
                </a:solidFill>
                <a:latin typeface="Noto Sans CJK SC"/>
              </a:rPr>
              <a:t>Compiler · Tencent Cloud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547104"/>
            <a:ext cx="4572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DDA440"/>
                </a:solidFill>
                <a:latin typeface="Noto Sans CJK S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143000"/>
            <a:ext cx="5943600" cy="91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600" b="1">
                <a:solidFill>
                  <a:srgbClr val="F3EFDE"/>
                </a:solidFill>
                <a:latin typeface="Noto Sans CJK SC"/>
              </a:rPr>
              <a:t>Compiler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2240280"/>
            <a:ext cx="6583680" cy="155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DDA440"/>
                </a:solidFill>
                <a:latin typeface="Noto Sans CJK SC"/>
              </a:rPr>
              <a:t>玩家负责想象，</a:t>
            </a:r>
            <a:br/>
            <a:r>
              <a:t>我们让想象在规则内运行。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297680"/>
            <a:ext cx="786384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1B7A9"/>
                </a:solidFill>
                <a:latin typeface="Noto Sans CJK SC"/>
              </a:rPr>
              <a:t>AI-native tower defense · Runtime asset compilation · Playable world growth</a:t>
            </a:r>
          </a:p>
        </p:txBody>
      </p:sp>
      <p:pic>
        <p:nvPicPr>
          <p:cNvPr id="5" name="Picture 4" descr="main_battle.png"/>
          <p:cNvPicPr>
            <a:picLocks noChangeAspect="1"/>
          </p:cNvPicPr>
          <p:nvPr/>
        </p:nvPicPr>
        <p:blipFill>
          <a:blip r:embed="rId2"/>
          <a:srcRect l="28204" r="28204"/>
          <a:stretch>
            <a:fillRect/>
          </a:stretch>
        </p:blipFill>
        <p:spPr>
          <a:xfrm>
            <a:off x="7818120" y="685800"/>
            <a:ext cx="3794760" cy="5440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806440"/>
            <a:ext cx="2743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4B1A3"/>
                </a:solidFill>
                <a:latin typeface="Noto Sans CJK SC"/>
              </a:rPr>
              <a:t>TEAM COMPILER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65392"/>
            <a:ext cx="5029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B1B7A9"/>
                </a:solidFill>
                <a:latin typeface="Noto Sans CJK SC"/>
              </a:rPr>
              <a:t>Compiler · Tencent Cloud Hackathon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47104"/>
            <a:ext cx="4572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DDA440"/>
                </a:solidFill>
                <a:latin typeface="Noto Sans CJK SC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